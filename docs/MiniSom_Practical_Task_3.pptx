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0a44a4e2e54254" /><Relationship Type="http://schemas.openxmlformats.org/officeDocument/2006/relationships/extended-properties" Target="/docProps/app.xml" Id="R79f589f0a28a4b13" /><Relationship Type="http://schemas.openxmlformats.org/officeDocument/2006/relationships/officeDocument" Target="/ppt/presentation.xml" Id="R4b3a787af1fc48ae" /></Relationships>
</file>

<file path=ppt/presentation.xml><?xml version="1.0" encoding="utf-8"?>
<p:presentation xmlns:p="http://schemas.openxmlformats.org/presentationml/2006/main">
  <p:sldMasterIdLst>
    <p:sldMasterId xmlns:r="http://schemas.openxmlformats.org/officeDocument/2006/relationships" id="2147483648" r:id="Rb38c2f153a004e10"/>
  </p:sldMasterIdLst>
  <p:notesMasterIdLst>
    <p:notesMasterId xmlns:r="http://schemas.openxmlformats.org/officeDocument/2006/relationships" r:id="R55c4ad4772824a46"/>
  </p:notesMasterIdLst>
  <p:sldIdLst>
    <p:sldId xmlns:r="http://schemas.openxmlformats.org/officeDocument/2006/relationships" id="256" r:id="R90afcfaf06ac4ca6"/>
    <p:sldId xmlns:r="http://schemas.openxmlformats.org/officeDocument/2006/relationships" id="257" r:id="Rc180395dd4d74efd"/>
    <p:sldId xmlns:r="http://schemas.openxmlformats.org/officeDocument/2006/relationships" id="258" r:id="R296e9ffea1a7440f"/>
    <p:sldId xmlns:r="http://schemas.openxmlformats.org/officeDocument/2006/relationships" id="259" r:id="Rcde57cc312924d4b"/>
    <p:sldId xmlns:r="http://schemas.openxmlformats.org/officeDocument/2006/relationships" id="260" r:id="R13ce98a9107548fe"/>
    <p:sldId xmlns:r="http://schemas.openxmlformats.org/officeDocument/2006/relationships" id="261" r:id="R9f162d9191624aa2"/>
    <p:sldId xmlns:r="http://schemas.openxmlformats.org/officeDocument/2006/relationships" id="262" r:id="Rc46b6faf9f2a4c96"/>
    <p:sldId xmlns:r="http://schemas.openxmlformats.org/officeDocument/2006/relationships" id="263" r:id="Ra50385f6d0ce4f5c"/>
    <p:sldId xmlns:r="http://schemas.openxmlformats.org/officeDocument/2006/relationships" id="264" r:id="Rdfbe7f75f57445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59f3e1f7da4047" /><Relationship Type="http://schemas.openxmlformats.org/officeDocument/2006/relationships/slideMaster" Target="/ppt/slideMasters/slideMaster1.xml" Id="Rb38c2f153a004e10" /><Relationship Type="http://schemas.openxmlformats.org/officeDocument/2006/relationships/notesMaster" Target="/ppt/notesMasters/notesMaster1.xml" Id="R55c4ad4772824a46" /><Relationship Type="http://schemas.openxmlformats.org/officeDocument/2006/relationships/presProps" Target="/ppt/presProps.xml" Id="R9a625465ad8a4ed0" /><Relationship Type="http://schemas.openxmlformats.org/officeDocument/2006/relationships/tableStyles" Target="/ppt/tableStyles.xml" Id="Rcf6423798e454846" /><Relationship Type="http://schemas.openxmlformats.org/officeDocument/2006/relationships/slide" Target="/ppt/slides/slide1.xml" Id="R90afcfaf06ac4ca6" /><Relationship Type="http://schemas.openxmlformats.org/officeDocument/2006/relationships/slide" Target="/ppt/slides/slide2.xml" Id="Rc180395dd4d74efd" /><Relationship Type="http://schemas.openxmlformats.org/officeDocument/2006/relationships/slide" Target="/ppt/slides/slide3.xml" Id="R296e9ffea1a7440f" /><Relationship Type="http://schemas.openxmlformats.org/officeDocument/2006/relationships/slide" Target="/ppt/slides/slide4.xml" Id="Rcde57cc312924d4b" /><Relationship Type="http://schemas.openxmlformats.org/officeDocument/2006/relationships/slide" Target="/ppt/slides/slide5.xml" Id="R13ce98a9107548fe" /><Relationship Type="http://schemas.openxmlformats.org/officeDocument/2006/relationships/slide" Target="/ppt/slides/slide6.xml" Id="R9f162d9191624aa2" /><Relationship Type="http://schemas.openxmlformats.org/officeDocument/2006/relationships/slide" Target="/ppt/slides/slide7.xml" Id="Rc46b6faf9f2a4c96" /><Relationship Type="http://schemas.openxmlformats.org/officeDocument/2006/relationships/slide" Target="/ppt/slides/slide8.xml" Id="Ra50385f6d0ce4f5c" /><Relationship Type="http://schemas.openxmlformats.org/officeDocument/2006/relationships/slide" Target="/ppt/slides/slide9.xml" Id="Rdfbe7f75f57445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e14d951d3345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763e43d36248e2" /><Relationship Type="http://schemas.openxmlformats.org/officeDocument/2006/relationships/notesMaster" Target="/ppt/notesMasters/notesMaster1.xml" Id="Re47739543a2b4f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bb3c7ec3eb4371" /><Relationship Type="http://schemas.openxmlformats.org/officeDocument/2006/relationships/notesMaster" Target="/ppt/notesMasters/notesMaster1.xml" Id="R95bee0b9370c46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ad4aa897934d5e" /><Relationship Type="http://schemas.openxmlformats.org/officeDocument/2006/relationships/notesMaster" Target="/ppt/notesMasters/notesMaster1.xml" Id="R2e4b429deb0e4e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ff0d2dc2f4ede" /><Relationship Type="http://schemas.openxmlformats.org/officeDocument/2006/relationships/notesMaster" Target="/ppt/notesMasters/notesMaster1.xml" Id="R318dd8c313224c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4288ffbac64e33" /><Relationship Type="http://schemas.openxmlformats.org/officeDocument/2006/relationships/notesMaster" Target="/ppt/notesMasters/notesMaster1.xml" Id="Rcdf6e48a0e3a46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7fa446b12e4a4e" /><Relationship Type="http://schemas.openxmlformats.org/officeDocument/2006/relationships/notesMaster" Target="/ppt/notesMasters/notesMaster1.xml" Id="R5d578947ce414d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d1c540113c47d0" /><Relationship Type="http://schemas.openxmlformats.org/officeDocument/2006/relationships/notesMaster" Target="/ppt/notesMasters/notesMaster1.xml" Id="R6d68f5c2f05e4a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9ce1593cf94111" /><Relationship Type="http://schemas.openxmlformats.org/officeDocument/2006/relationships/notesMaster" Target="/ppt/notesMasters/notesMaster1.xml" Id="R43fd5c39eea64d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02886e80154321" /><Relationship Type="http://schemas.openxmlformats.org/officeDocument/2006/relationships/notesMaster" Target="/ppt/notesMasters/notesMaster1.xml" Id="Rb1665204a6134d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Hello everyone. Today I will introduce MiniSom, a Python library for unsupervised machine learning. I chose it because its main idea is easy to demonstrate visually. In my example, a model learns to place similar colors near each other. I will explain the library and show the actual result of a short experiment.</a:t>
            </a:r>
          </a:p>
          <a:p xmlns:a="http://schemas.openxmlformats.org/drawingml/2006/main">
            <a:r>
              <a:t/>
            </a:r>
          </a:p>
          <a:p xmlns:a="http://schemas.openxmlformats.org/drawingml/2006/main">
            <a:r>
              <a:t>توضیح فارسی</a:t>
            </a:r>
          </a:p>
          <a:p xmlns:a="http://schemas.openxmlformats.org/drawingml/2006/main">
            <a:r>
              <a:t>موضوع MiniSom است و مثال آن مرتب‌شدن رنگ‌های مشابه روی نقشه است. از همین ابتدا بگو این نمونه از Unsupervised Learning است. توضیح مفصل Algorithm را برای اسلاید چهار نگه دار.</a:t>
            </a:r>
          </a:p>
          <a:p xmlns:a="http://schemas.openxmlformats.org/drawingml/2006/main">
            <a:r>
              <a:t/>
            </a:r>
          </a:p>
          <a:p xmlns:a="http://schemas.openxmlformats.org/drawingml/2006/main">
            <a:r>
              <a:t>Sources</a:t>
            </a:r>
          </a:p>
          <a:p xmlns:a="http://schemas.openxmlformats.org/drawingml/2006/main">
            <a:r>
              <a:t>https://github.com/JustGlowing/minisom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MiniSom implements Self-Organizing Maps, also called SOMs. A SOM is a type of neural network that learns patterns without class labels. It represents data using a two-dimensional grid. Similar inputs tend to have nearby locations on this grid. The base library depends on NumPy, and we can install it with pip. MiniSom is the library, while SOM is the learning method.</a:t>
            </a:r>
          </a:p>
          <a:p xmlns:a="http://schemas.openxmlformats.org/drawingml/2006/main">
            <a:r>
              <a:t/>
            </a:r>
          </a:p>
          <a:p xmlns:a="http://schemas.openxmlformats.org/drawingml/2006/main">
            <a:r>
              <a:t>توضیح فارسی</a:t>
            </a:r>
          </a:p>
          <a:p xmlns:a="http://schemas.openxmlformats.org/drawingml/2006/main">
            <a:r>
              <a:t>MiniSom نام Library و SOM نام روش است. Model بدون Class label یاد می‌گیرد. خروجی یک نقشهٔ دوبعدی است. برای این مثال فقط CPU کافی است؛ matplotlib هم برای نمایش نتیجه استفاده می‌شود.</a:t>
            </a:r>
          </a:p>
          <a:p xmlns:a="http://schemas.openxmlformats.org/drawingml/2006/main">
            <a:r>
              <a:t/>
            </a:r>
          </a:p>
          <a:p xmlns:a="http://schemas.openxmlformats.org/drawingml/2006/main">
            <a:r>
              <a:t>Sources</a:t>
            </a:r>
          </a:p>
          <a:p xmlns:a="http://schemas.openxmlformats.org/drawingml/2006/main">
            <a:r>
              <a:t>https://github.com/JustGlowing/minisom</a:t>
            </a:r>
          </a:p>
          <a:p xmlns:a="http://schemas.openxmlformats.org/drawingml/2006/main">
            <a:r>
              <a:t>https://github.com/JustGlowing/minisom/blob/master/minisom.py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The model receives numbers rather than color names. Each input has three features: red, green and blue. For example, one, zero, zero represents red. I generated one thousand random RGB vectors for training and another five hundred for evaluation. The color names in this table only explain the numbers. The training data contains no labels and requires no dataset download.</a:t>
            </a:r>
          </a:p>
          <a:p xmlns:a="http://schemas.openxmlformats.org/drawingml/2006/main">
            <a:r>
              <a:t/>
            </a:r>
          </a:p>
          <a:p xmlns:a="http://schemas.openxmlformats.org/drawingml/2006/main">
            <a:r>
              <a:t>توضیح فارسی</a:t>
            </a:r>
          </a:p>
          <a:p xmlns:a="http://schemas.openxmlformats.org/drawingml/2006/main">
            <a:r>
              <a:t>هر ردیف ورودی سه عدد R و G و B دارد. داده‌ها به صورت تصادفی ساخته شده‌اند: ۱۰۰۰ رنگ برای Training و ۵۰۰ رنگ جدا برای Evaluation. اسم رنگ‌های جدول فقط برای توضیح است و به Model داده نمی‌شود.</a:t>
            </a:r>
          </a:p>
          <a:p xmlns:a="http://schemas.openxmlformats.org/drawingml/2006/main">
            <a:r>
              <a:t/>
            </a:r>
          </a:p>
          <a:p xmlns:a="http://schemas.openxmlformats.org/drawingml/2006/main">
            <a:r>
              <a:t>Sources</a:t>
            </a:r>
          </a:p>
          <a:p xmlns:a="http://schemas.openxmlformats.org/drawingml/2006/main">
            <a:r>
              <a:t>https://github.com/JustGlowing/minisom</a:t>
            </a:r>
          </a:p>
          <a:p xmlns:a="http://schemas.openxmlformats.org/drawingml/2006/main">
            <a:r>
              <a:t>Experiment: minisom_colors_demo.py, seed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The map contains a grid of cells. Each cell stores a representative RGB vector, called a prototype. For each training step, the model finds the prototype closest to the input color. It then moves that prototype and nearby prototypes toward the input. Repeating these updates gradually organizes the map. The neighborhood becomes smaller during training, helping the model refine the arrangement.</a:t>
            </a:r>
          </a:p>
          <a:p xmlns:a="http://schemas.openxmlformats.org/drawingml/2006/main">
            <a:r>
              <a:t/>
            </a:r>
          </a:p>
          <a:p xmlns:a="http://schemas.openxmlformats.org/drawingml/2006/main">
            <a:r>
              <a:t>توضیح فارسی</a:t>
            </a:r>
          </a:p>
          <a:p xmlns:a="http://schemas.openxmlformats.org/drawingml/2006/main">
            <a:r>
              <a:t>هر خانه یک Prototype، یعنی بردار RGB نماینده، دارد. Model نزدیک‌ترین Prototype را پیدا می‌کند و آن و همسایه‌هایش را کمی به رنگ ورودی نزدیک می‌کند. خروجی، Prototypeهای یادگرفته‌شده است؛ جابه‌جایی سادهٔ پیکسل‌های ورودی نیست.</a:t>
            </a:r>
          </a:p>
          <a:p xmlns:a="http://schemas.openxmlformats.org/drawingml/2006/main">
            <a:r>
              <a:t/>
            </a:r>
          </a:p>
          <a:p xmlns:a="http://schemas.openxmlformats.org/drawingml/2006/main">
            <a:r>
              <a:t>Sources</a:t>
            </a:r>
          </a:p>
          <a:p xmlns:a="http://schemas.openxmlformats.org/drawingml/2006/main">
            <a:r>
              <a:t>https://github.com/JustGlowing/minisom/blob/master/minisom.py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The code first generates the RGB data. Sixteen by sixteen defines the map size, and three is the number of input features. Sigma controls the initial neighborhood size. The learning rate controls the size of each update. The train_random method performs twenty thousand updates using the training data. Finally, winner finds a grid location for a new color. It returns coordinates rather than a color name.</a:t>
            </a:r>
          </a:p>
          <a:p xmlns:a="http://schemas.openxmlformats.org/drawingml/2006/main">
            <a:r>
              <a:t/>
            </a:r>
          </a:p>
          <a:p xmlns:a="http://schemas.openxmlformats.org/drawingml/2006/main">
            <a:r>
              <a:t>توضیح فارسی</a:t>
            </a:r>
          </a:p>
          <a:p xmlns:a="http://schemas.openxmlformats.org/drawingml/2006/main">
            <a:r>
              <a:t>16 و 16 ابعاد نقشه و 3 تعداد Feature است. sigma شعاع اولیهٔ همسایگی و learning_rate میزان تغییر Weight را تعیین می‌کند. ۲۰۰۰۰، تعداد Update است، نه تعداد Epoch. winner برای یک رنگ جدید، مختصات خانه را برمی‌گرداند.</a:t>
            </a:r>
          </a:p>
          <a:p xmlns:a="http://schemas.openxmlformats.org/drawingml/2006/main">
            <a:r>
              <a:t/>
            </a:r>
          </a:p>
          <a:p xmlns:a="http://schemas.openxmlformats.org/drawingml/2006/main">
            <a:r>
              <a:t>Sources</a:t>
            </a:r>
          </a:p>
          <a:p xmlns:a="http://schemas.openxmlformats.org/drawingml/2006/main">
            <a:r>
              <a:t>https://github.com/JustGlowing/minisom</a:t>
            </a:r>
          </a:p>
          <a:p xmlns:a="http://schemas.openxmlformats.org/drawingml/2006/main">
            <a:r>
              <a:t>https://github.com/JustGlowing/minisom/blob/master/minisom.py</a:t>
            </a:r>
          </a:p>
          <a:p xmlns:a="http://schemas.openxmlformats.org/drawingml/2006/main">
            <a:r>
              <a:t>Full runnable example: minisom_colors_demo.py.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On the left, the grid starts with randomly selected training colors. Nearby cells can look very different. On the right, the same grid contains the learned prototypes after training. Similar colors now form smoother regions. These images come directly from the model weights. I did not sort the final colors separately. A different random seed can rotate or change the arrangement.</a:t>
            </a:r>
          </a:p>
          <a:p xmlns:a="http://schemas.openxmlformats.org/drawingml/2006/main">
            <a:r>
              <a:t/>
            </a:r>
          </a:p>
          <a:p xmlns:a="http://schemas.openxmlformats.org/drawingml/2006/main">
            <a:r>
              <a:t>توضیح فارسی</a:t>
            </a:r>
          </a:p>
          <a:p xmlns:a="http://schemas.openxmlformats.org/drawingml/2006/main">
            <a:r>
              <a:t>تصویر چپ Weightهای اولیه و تصویر راست Weightهای آموزش‌دیده را نشان می‌دهد. رنگ‌ها بعد از آموزش با دستور دیگری Sort نشده‌اند. قرارگیری دقیق رنگ‌ها، جهت نقشه و شکل ناحیه‌ها ممکن است با Seed تغییر کند. GIF همراه همین Training را نمایش می‌دهد.</a:t>
            </a:r>
          </a:p>
          <a:p xmlns:a="http://schemas.openxmlformats.org/drawingml/2006/main">
            <a:r>
              <a:t/>
            </a:r>
          </a:p>
          <a:p xmlns:a="http://schemas.openxmlformats.org/drawingml/2006/main">
            <a:r>
              <a:t>Sources</a:t>
            </a:r>
          </a:p>
          <a:p xmlns:a="http://schemas.openxmlformats.org/drawingml/2006/main">
            <a:r>
              <a:t>Experiment outputs: before_after.png and color_map.npz, generated by minisom_colors_demo.py.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I evaluated the map using five hundred colors that were not used for training. Topographic error fell from 97.6 percent to 9.2 percent. This checks how often the two closest prototypes are not neighboring cells. A lower value indicates a more consistent arrangement. The mean RGB reconstruction distance also decreased slightly. These are results from one demonstration run, and they do not measure classification accuracy.</a:t>
            </a:r>
          </a:p>
          <a:p xmlns:a="http://schemas.openxmlformats.org/drawingml/2006/main">
            <a:r>
              <a:t/>
            </a:r>
          </a:p>
          <a:p xmlns:a="http://schemas.openxmlformats.org/drawingml/2006/main">
            <a:r>
              <a:t>توضیح فارسی</a:t>
            </a:r>
          </a:p>
          <a:p xmlns:a="http://schemas.openxmlformats.org/drawingml/2006/main">
            <a:r>
              <a:t>روی همان ۵۰۰ رنگ Test، Topographic error از 97.6٪ به 9.2٪ کاهش یافت. یعنی دو Prototype نزدیک به هر ورودی، بیشتر در خانه‌های همسایه قرار گرفته‌اند. Quantization error نیز از 0.0962 به 0.0918 رسید. این اعداد Accuracy نیستند و فقط مربوط به یک اجرای Demo هستند.</a:t>
            </a:r>
          </a:p>
          <a:p xmlns:a="http://schemas.openxmlformats.org/drawingml/2006/main">
            <a:r>
              <a:t/>
            </a:r>
          </a:p>
          <a:p xmlns:a="http://schemas.openxmlformats.org/drawingml/2006/main">
            <a:r>
              <a:t>Sources</a:t>
            </a:r>
          </a:p>
          <a:p xmlns:a="http://schemas.openxmlformats.org/drawingml/2006/main">
            <a:r>
              <a:t>https://github.com/JustGlowing/minisom/blob/master/minisom.py</a:t>
            </a:r>
          </a:p>
          <a:p xmlns:a="http://schemas.openxmlformats.org/drawingml/2006/main">
            <a:r>
              <a:t>Measured results: demo_results/results.json. Training seed 42. Same 500 held-out samples in both evaluations.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MiniSom is useful for visualizing data, exploring similar samples and building color palettes. Its main advantage here is that we can inspect what the model learns. However, feature scaling and training settings affect the result. A SOM also needs an additional labeling step if we want named classes. For this presentation, the color example shows how a small library can make unsupervised learning understandable. Thank you for listening.</a:t>
            </a:r>
          </a:p>
          <a:p xmlns:a="http://schemas.openxmlformats.org/drawingml/2006/main">
            <a:r>
              <a:t/>
            </a:r>
          </a:p>
          <a:p xmlns:a="http://schemas.openxmlformats.org/drawingml/2006/main">
            <a:r>
              <a:t>توضیح فارسی</a:t>
            </a:r>
          </a:p>
          <a:p xmlns:a="http://schemas.openxmlformats.org/drawingml/2006/main">
            <a:r>
              <a:t>کاربردها شامل نمایش شباهت داده‌ها و ساخت Color palette است. اگر Featureها واحد یا مقیاس متفاوت داشته باشند باید Scaling را بررسی کنیم. خروجی عادی SOM مختصات و Prototype است؛ برای پیش‌بینی Class باید مرحلهٔ Labeling اضافه شود.</a:t>
            </a:r>
          </a:p>
          <a:p xmlns:a="http://schemas.openxmlformats.org/drawingml/2006/main">
            <a:r>
              <a:t/>
            </a:r>
          </a:p>
          <a:p xmlns:a="http://schemas.openxmlformats.org/drawingml/2006/main">
            <a:r>
              <a:t>Sources</a:t>
            </a:r>
          </a:p>
          <a:p xmlns:a="http://schemas.openxmlformats.org/drawingml/2006/main">
            <a:r>
              <a:t>https://github.com/JustGlowing/minisom</a:t>
            </a:r>
          </a:p>
          <a:p xmlns:a="http://schemas.openxmlformats.org/drawingml/2006/main">
            <a:r>
              <a:t>https://github.com/JustGlowing/minisom/tree/master/examples</a:t>
            </a:r>
          </a:p>
          <a:p xmlns:a="http://schemas.openxmlformats.org/drawingml/2006/main">
            <a:r>
              <a:t>https://github.com/JustGlowing/minisom/blob/master/minisom.py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speaking script</a:t>
            </a:r>
          </a:p>
          <a:p xmlns:a="http://schemas.openxmlformats.org/drawingml/2006/main">
            <a:r>
              <a:t>These are the official sources for MiniSom. The figures and numerical results come from the accompanying Python demo.</a:t>
            </a:r>
          </a:p>
          <a:p xmlns:a="http://schemas.openxmlformats.org/drawingml/2006/main">
            <a:r>
              <a:t/>
            </a:r>
          </a:p>
          <a:p xmlns:a="http://schemas.openxmlformats.org/drawingml/2006/main">
            <a:r>
              <a:t>توضیح فارسی</a:t>
            </a:r>
          </a:p>
          <a:p xmlns:a="http://schemas.openxmlformats.org/drawingml/2006/main">
            <a:r>
              <a:t>منابع اصلی GitHub رسمی MiniSom و کد خود Library هستند. نتیجه‌ها و تصویرها از اجرای واقعی Demo به دست آمده‌اند. لازم نیست URLها را بلند بخوانی.</a:t>
            </a:r>
          </a:p>
          <a:p xmlns:a="http://schemas.openxmlformats.org/drawingml/2006/main">
            <a:r>
              <a:t/>
            </a:r>
          </a:p>
          <a:p xmlns:a="http://schemas.openxmlformats.org/drawingml/2006/main">
            <a:r>
              <a:t>Sources</a:t>
            </a:r>
          </a:p>
          <a:p xmlns:a="http://schemas.openxmlformats.org/drawingml/2006/main">
            <a:r>
              <a:t>https://github.com/JustGlowing/minisom</a:t>
            </a:r>
          </a:p>
          <a:p xmlns:a="http://schemas.openxmlformats.org/drawingml/2006/main">
            <a:r>
              <a:t>https://github.com/JustGlowing/minisom/blob/master/minisom.py</a:t>
            </a:r>
          </a:p>
          <a:p xmlns:a="http://schemas.openxmlformats.org/drawingml/2006/main">
            <a:r>
              <a:t>https://github.com/JustGlowing/minisom/tree/master/examples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4c06b0c17243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e01fe8619148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e126570c5d43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508c5dad5f4f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bc4ed6ae3847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22e90c1d474d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BE72D0-A550-49B3-B5C9-F8A8B1C250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DC1110-D325-4DEF-8A30-941D019AEA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109FF5-F646-421A-B8D8-A88C5CC3A8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978B93-A2E3-4325-89AA-70D4B75D17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7FB9F0-43E7-45E9-8E7F-D559189AC1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53C02C4-BEBB-4426-8DAD-A2AC4B3BD3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F0705A-18D9-4B5E-B947-3A16CC83CE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348458-A5A4-4C7A-9ADE-28B54973FF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D18C90-059F-479C-B95E-E28EFB0FF5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0D9530-E45F-4255-B596-287FAE8FA8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831c2bf34b42e4" /><Relationship Type="http://schemas.openxmlformats.org/officeDocument/2006/relationships/slideLayout" Target="/ppt/slideLayouts/slideLayout1.xml" Id="R43548ad108964c7c" /><Relationship Type="http://schemas.openxmlformats.org/officeDocument/2006/relationships/slideLayout" Target="/ppt/slideLayouts/slideLayout2.xml" Id="R9d5289ea02b24f04" /><Relationship Type="http://schemas.openxmlformats.org/officeDocument/2006/relationships/slideLayout" Target="/ppt/slideLayouts/slideLayout3.xml" Id="R5b5721faa26f4952" /><Relationship Type="http://schemas.openxmlformats.org/officeDocument/2006/relationships/slideLayout" Target="/ppt/slideLayouts/slideLayout4.xml" Id="Rcbe0cc95b1fb4ffe" /><Relationship Type="http://schemas.openxmlformats.org/officeDocument/2006/relationships/slideLayout" Target="/ppt/slideLayouts/slideLayout5.xml" Id="R2dc4c80a85b84d6a" /><Relationship Type="http://schemas.openxmlformats.org/officeDocument/2006/relationships/slideLayout" Target="/ppt/slideLayouts/slideLayout6.xml" Id="Rcf19ecf7cd624c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548ad108964c7c"/>
    <p:sldLayoutId xmlns:r="http://schemas.openxmlformats.org/officeDocument/2006/relationships" id="2147483650" r:id="R9d5289ea02b24f04"/>
    <p:sldLayoutId xmlns:r="http://schemas.openxmlformats.org/officeDocument/2006/relationships" id="2147483651" r:id="R5b5721faa26f4952"/>
    <p:sldLayoutId xmlns:r="http://schemas.openxmlformats.org/officeDocument/2006/relationships" id="2147483652" r:id="Rcbe0cc95b1fb4ffe"/>
    <p:sldLayoutId xmlns:r="http://schemas.openxmlformats.org/officeDocument/2006/relationships" id="2147483653" r:id="R2dc4c80a85b84d6a"/>
    <p:sldLayoutId xmlns:r="http://schemas.openxmlformats.org/officeDocument/2006/relationships" id="2147483654" r:id="Rcf19ecf7cd624c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26c1a7f39646d2" /><Relationship Type="http://schemas.openxmlformats.org/officeDocument/2006/relationships/notesSlide" Target="/ppt/notesSlides/notesSlide1.xml" Id="R04346b4777b549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b356e5424a481b" /><Relationship Type="http://schemas.openxmlformats.org/officeDocument/2006/relationships/notesSlide" Target="/ppt/notesSlides/notesSlide2.xml" Id="Rfaee135844764e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8caaafd719349d3" /><Relationship Type="http://schemas.openxmlformats.org/officeDocument/2006/relationships/notesSlide" Target="/ppt/notesSlides/notesSlide3.xml" Id="R8ad0095d1cf644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ae005e9f704607" /><Relationship Type="http://schemas.openxmlformats.org/officeDocument/2006/relationships/notesSlide" Target="/ppt/notesSlides/notesSlide4.xml" Id="R763db793cc6646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65e5c53f99142df" /><Relationship Type="http://schemas.openxmlformats.org/officeDocument/2006/relationships/notesSlide" Target="/ppt/notesSlides/notesSlide5.xml" Id="R1fa1216d819846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bd67b3093b47f8" /><Relationship Type="http://schemas.openxmlformats.org/officeDocument/2006/relationships/image" Target="/ppt/media/image.png" Id="Rc75e10f4dd84415b" /><Relationship Type="http://schemas.openxmlformats.org/officeDocument/2006/relationships/notesSlide" Target="/ppt/notesSlides/notesSlide6.xml" Id="R893cc17dab3244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b24cd3cff740da" /><Relationship Type="http://schemas.openxmlformats.org/officeDocument/2006/relationships/chart" Target="/ppt/slides/charts/chart1.xml" Id="R0ea5ec749d834e0d" /><Relationship Type="http://schemas.openxmlformats.org/officeDocument/2006/relationships/notesSlide" Target="/ppt/notesSlides/notesSlide7.xml" Id="R13da3270bbed43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27062ba1534e1c" /><Relationship Type="http://schemas.openxmlformats.org/officeDocument/2006/relationships/notesSlide" Target="/ppt/notesSlides/notesSlide8.xml" Id="Refbd55fb0d3f44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d56a3581e940ae" /><Relationship Type="http://schemas.openxmlformats.org/officeDocument/2006/relationships/notesSlide" Target="/ppt/notesSlides/notesSlide9.xml" Id="R2df5398d84db4b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Topographic error (%)</c:v>
          </c:tx>
          <c:spPr>
            <a:solidFill xmlns:a="http://schemas.openxmlformats.org/drawingml/2006/main">
              <a:srgbClr val="5D3FA8"/>
            </a:solidFill>
          </c:spPr>
          <c:invertIfNegative val="0"/>
          <c:dPt>
            <c:idx val="0"/>
            <c:invertIfNegative val="0"/>
            <c:spPr>
              <a:solidFill xmlns:a="http://schemas.openxmlformats.org/drawingml/2006/main">
                <a:srgbClr val="9BA6B6"/>
              </a:solidFill>
            </c:spPr>
          </c:dPt>
          <c:dPt>
            <c:idx val="1"/>
            <c:invertIfNegative val="0"/>
            <c:spPr>
              <a:solidFill xmlns:a="http://schemas.openxmlformats.org/drawingml/2006/main">
                <a:srgbClr val="5D3FA8"/>
              </a:solidFill>
            </c:spPr>
          </c:dPt>
          <c:cat>
            <c:strRef>
              <c:f>'Chart Data'!$A$2:$A$3</c:f>
              <c:strCache>
                <c:ptCount val="2"/>
                <c:pt idx="0">
                  <c:v>Before training</c:v>
                </c:pt>
                <c:pt idx="1">
                  <c:v>After training</c:v>
                </c:pt>
              </c:strCache>
            </c:strRef>
          </c:cat>
          <c:val>
            <c:numRef>
              <c:f>'Chart Data'!$B$2:$B$3</c:f>
              <c:numCache>
                <c:formatCode>General</c:formatCode>
                <c:ptCount val="2"/>
                <c:pt idx="0">
                  <c:v>97.6</c:v>
                </c:pt>
                <c:pt idx="1">
                  <c:v>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950" b="1">
                  <a:solidFill>
                    <a:srgbClr val="192C3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E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92C3B"/>
                </a:solidFill>
                <a:latin typeface="DejaVu Sans"/>
                <a:ea typeface="DejaVu Sans"/>
                <a:cs typeface="DejaVu Sans"/>
              </a:defRPr>
            </a:pPr>
          </a:p>
        </c:txPr>
        <c:crossAx val="48672768"/>
      </c:catAx>
      <c:valAx>
        <c:axId val="48672768"/>
        <c:scaling>
          <c:orientation val="minMax"/>
          <c:max val="110"/>
          <c:min val="0"/>
        </c:scaling>
        <c:delete val="0"/>
        <c:axPos val="l"/>
        <c:majorGridlines>
          <c:spPr>
            <a:ln xmlns:a="http://schemas.openxmlformats.org/drawingml/2006/main" w="9525">
              <a:solidFill>
                <a:srgbClr val="D6DEE4"/>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92C3B"/>
                    </a:solidFill>
                    <a:latin typeface="DejaVu Sans"/>
                    <a:ea typeface="DejaVu Sans"/>
                    <a:cs typeface="DejaVu Sans"/>
                  </a:rPr>
                  <a:t>Topographic error (%)</a:t>
                </a:r>
              </a:p>
            </c:rich>
          </c:tx>
          <c:overlay val="0"/>
          <c:txPr>
            <a:bodyPr xmlns:a="http://schemas.openxmlformats.org/drawingml/2006/main" anchorCtr="1"/>
            <a:lstStyle xmlns:a="http://schemas.openxmlformats.org/drawingml/2006/main"/>
            <a:p xmlns:a="http://schemas.openxmlformats.org/drawingml/2006/main">
              <a:pPr>
                <a:defRPr sz="1800">
                  <a:solidFill>
                    <a:srgbClr val="192C3B"/>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573"/>
                </a:solidFill>
                <a:latin typeface="DejaVu Sans"/>
                <a:ea typeface="DejaVu Sans"/>
                <a:cs typeface="DejaVu Sans"/>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8F2FA0A6-0695-4CCC-B094-460C0C7ECDF0}"/>
              </a:ext>
            </a:extLst>
          </p:cNvPr>
          <p:cNvSpPr>
            <a:spLocks xmlns:a="http://schemas.openxmlformats.org/drawingml/2006/main" noGrp="1"/>
          </p:cNvSpPr>
          <p:nvPr/>
        </p:nvSpPr>
        <p:spPr>
          <a:xfrm xmlns:a="http://schemas.openxmlformats.org/drawingml/2006/main">
            <a:off x="685800" y="1600200"/>
            <a:ext cx="1082040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400" b="1">
                <a:solidFill>
                  <a:srgbClr val="192C3B"/>
                </a:solidFill>
                <a:latin typeface="DejaVu Sans"/>
                <a:ea typeface="DejaVu Sans"/>
                <a:cs typeface="DejaVu Sans"/>
              </a:defRPr>
            </a:defPPr>
            <a:lvl1pPr>
              <a:defRPr sz="5400" b="1">
                <a:solidFill>
                  <a:srgbClr val="192C3B"/>
                </a:solidFill>
                <a:latin typeface="DejaVu Sans"/>
                <a:ea typeface="DejaVu Sans"/>
                <a:cs typeface="DejaVu Sans"/>
              </a:defRPr>
            </a:lvl1pPr>
            <a:lvl2pPr>
              <a:defRPr sz="5400" b="1">
                <a:solidFill>
                  <a:srgbClr val="192C3B"/>
                </a:solidFill>
                <a:latin typeface="DejaVu Sans"/>
                <a:ea typeface="DejaVu Sans"/>
                <a:cs typeface="DejaVu Sans"/>
              </a:defRPr>
            </a:lvl2pPr>
            <a:lvl3pPr>
              <a:defRPr sz="5400" b="1">
                <a:solidFill>
                  <a:srgbClr val="192C3B"/>
                </a:solidFill>
                <a:latin typeface="DejaVu Sans"/>
                <a:ea typeface="DejaVu Sans"/>
                <a:cs typeface="DejaVu Sans"/>
              </a:defRPr>
            </a:lvl3pPr>
            <a:lvl4pPr>
              <a:defRPr sz="5400" b="1">
                <a:solidFill>
                  <a:srgbClr val="192C3B"/>
                </a:solidFill>
                <a:latin typeface="DejaVu Sans"/>
                <a:ea typeface="DejaVu Sans"/>
                <a:cs typeface="DejaVu Sans"/>
              </a:defRPr>
            </a:lvl4pPr>
            <a:lvl5pPr>
              <a:defRPr sz="5400" b="1">
                <a:solidFill>
                  <a:srgbClr val="192C3B"/>
                </a:solidFill>
                <a:latin typeface="DejaVu Sans"/>
                <a:ea typeface="DejaVu Sans"/>
                <a:cs typeface="DejaVu Sans"/>
              </a:defRPr>
            </a:lvl5pPr>
            <a:lvl6pPr>
              <a:defRPr sz="5400" b="1">
                <a:solidFill>
                  <a:srgbClr val="192C3B"/>
                </a:solidFill>
                <a:latin typeface="DejaVu Sans"/>
                <a:ea typeface="DejaVu Sans"/>
                <a:cs typeface="DejaVu Sans"/>
              </a:defRPr>
            </a:lvl6pPr>
            <a:lvl7pPr>
              <a:defRPr sz="5400" b="1">
                <a:solidFill>
                  <a:srgbClr val="192C3B"/>
                </a:solidFill>
                <a:latin typeface="DejaVu Sans"/>
                <a:ea typeface="DejaVu Sans"/>
                <a:cs typeface="DejaVu Sans"/>
              </a:defRPr>
            </a:lvl7pPr>
            <a:lvl8pPr>
              <a:defRPr sz="5400" b="1">
                <a:solidFill>
                  <a:srgbClr val="192C3B"/>
                </a:solidFill>
                <a:latin typeface="DejaVu Sans"/>
                <a:ea typeface="DejaVu Sans"/>
                <a:cs typeface="DejaVu Sans"/>
              </a:defRPr>
            </a:lvl8pPr>
            <a:lvl9pPr>
              <a:defRPr sz="5400" b="1">
                <a:solidFill>
                  <a:srgbClr val="192C3B"/>
                </a:solidFill>
                <a:latin typeface="DejaVu Sans"/>
                <a:ea typeface="DejaVu Sans"/>
                <a:cs typeface="DejaVu Sans"/>
              </a:defRPr>
            </a:lvl9pPr>
          </a:lstStyle>
          <a:p xmlns:a="http://schemas.openxmlformats.org/drawingml/2006/main">
            <a:pPr>
              <a:lnSpc>
                <a:spcPct val="112000"/>
              </a:lnSpc>
              <a:buNone/>
              <a:defRPr sz="5400" b="1">
                <a:solidFill>
                  <a:srgbClr val="192C3B"/>
                </a:solidFill>
                <a:latin typeface="DejaVu Sans"/>
                <a:ea typeface="DejaVu Sans"/>
                <a:cs typeface="DejaVu Sans"/>
              </a:defRPr>
            </a:pPr>
            <a:r>
              <a:rPr sz="5400" b="1">
                <a:solidFill>
                  <a:srgbClr val="192C3B"/>
                </a:solidFill>
                <a:latin typeface="DejaVu Sans"/>
                <a:ea typeface="DejaVu Sans"/>
                <a:cs typeface="DejaVu Sans"/>
              </a:rPr>
              <a:t>Organizing colors</a:t>
            </a:r>
          </a:p>
          <a:p xmlns:a="http://schemas.openxmlformats.org/drawingml/2006/main">
            <a:pPr>
              <a:lnSpc>
                <a:spcPct val="112000"/>
              </a:lnSpc>
              <a:buNone/>
              <a:defRPr sz="5400" b="1">
                <a:solidFill>
                  <a:srgbClr val="192C3B"/>
                </a:solidFill>
                <a:latin typeface="DejaVu Sans"/>
                <a:ea typeface="DejaVu Sans"/>
                <a:cs typeface="DejaVu Sans"/>
              </a:defRPr>
            </a:pPr>
            <a:r>
              <a:rPr sz="5400" b="1">
                <a:solidFill>
                  <a:srgbClr val="192C3B"/>
                </a:solidFill>
                <a:latin typeface="DejaVu Sans"/>
                <a:ea typeface="DejaVu Sans"/>
                <a:cs typeface="DejaVu Sans"/>
              </a:rPr>
              <a:t>with MiniSom</a:t>
            </a:r>
          </a:p>
        </p:txBody>
      </p:sp>
      <p:sp>
        <p:nvSpPr>
          <p:cNvPr id="2" name="cover-subtitle">
            <a:extLst xmlns:a="http://schemas.openxmlformats.org/drawingml/2006/main">
              <a:ext uri="{FF2B5EF4-FFF2-40B4-BE49-F238E27FC236}">
                <a16:creationId xmlns:a16="http://schemas.microsoft.com/office/drawing/2014/main" id="{2C19CB10-DD95-40B6-A3ED-9A79C87095D2}"/>
              </a:ext>
            </a:extLst>
          </p:cNvPr>
          <p:cNvSpPr>
            <a:spLocks xmlns:a="http://schemas.openxmlformats.org/drawingml/2006/main" noGrp="1"/>
          </p:cNvSpPr>
          <p:nvPr/>
        </p:nvSpPr>
        <p:spPr>
          <a:xfrm xmlns:a="http://schemas.openxmlformats.org/drawingml/2006/main">
            <a:off x="723900" y="39052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0">
                <a:solidFill>
                  <a:srgbClr val="516573"/>
                </a:solidFill>
                <a:latin typeface="DejaVu Sans"/>
                <a:ea typeface="DejaVu Sans"/>
                <a:cs typeface="DejaVu Sans"/>
              </a:defRPr>
            </a:defPPr>
            <a:lvl1pPr>
              <a:defRPr sz="2550" b="0">
                <a:solidFill>
                  <a:srgbClr val="516573"/>
                </a:solidFill>
                <a:latin typeface="DejaVu Sans"/>
                <a:ea typeface="DejaVu Sans"/>
                <a:cs typeface="DejaVu Sans"/>
              </a:defRPr>
            </a:lvl1pPr>
            <a:lvl2pPr>
              <a:defRPr sz="2550" b="0">
                <a:solidFill>
                  <a:srgbClr val="516573"/>
                </a:solidFill>
                <a:latin typeface="DejaVu Sans"/>
                <a:ea typeface="DejaVu Sans"/>
                <a:cs typeface="DejaVu Sans"/>
              </a:defRPr>
            </a:lvl2pPr>
            <a:lvl3pPr>
              <a:defRPr sz="2550" b="0">
                <a:solidFill>
                  <a:srgbClr val="516573"/>
                </a:solidFill>
                <a:latin typeface="DejaVu Sans"/>
                <a:ea typeface="DejaVu Sans"/>
                <a:cs typeface="DejaVu Sans"/>
              </a:defRPr>
            </a:lvl3pPr>
            <a:lvl4pPr>
              <a:defRPr sz="2550" b="0">
                <a:solidFill>
                  <a:srgbClr val="516573"/>
                </a:solidFill>
                <a:latin typeface="DejaVu Sans"/>
                <a:ea typeface="DejaVu Sans"/>
                <a:cs typeface="DejaVu Sans"/>
              </a:defRPr>
            </a:lvl4pPr>
            <a:lvl5pPr>
              <a:defRPr sz="2550" b="0">
                <a:solidFill>
                  <a:srgbClr val="516573"/>
                </a:solidFill>
                <a:latin typeface="DejaVu Sans"/>
                <a:ea typeface="DejaVu Sans"/>
                <a:cs typeface="DejaVu Sans"/>
              </a:defRPr>
            </a:lvl5pPr>
            <a:lvl6pPr>
              <a:defRPr sz="2550" b="0">
                <a:solidFill>
                  <a:srgbClr val="516573"/>
                </a:solidFill>
                <a:latin typeface="DejaVu Sans"/>
                <a:ea typeface="DejaVu Sans"/>
                <a:cs typeface="DejaVu Sans"/>
              </a:defRPr>
            </a:lvl6pPr>
            <a:lvl7pPr>
              <a:defRPr sz="2550" b="0">
                <a:solidFill>
                  <a:srgbClr val="516573"/>
                </a:solidFill>
                <a:latin typeface="DejaVu Sans"/>
                <a:ea typeface="DejaVu Sans"/>
                <a:cs typeface="DejaVu Sans"/>
              </a:defRPr>
            </a:lvl7pPr>
            <a:lvl8pPr>
              <a:defRPr sz="2550" b="0">
                <a:solidFill>
                  <a:srgbClr val="516573"/>
                </a:solidFill>
                <a:latin typeface="DejaVu Sans"/>
                <a:ea typeface="DejaVu Sans"/>
                <a:cs typeface="DejaVu Sans"/>
              </a:defRPr>
            </a:lvl8pPr>
            <a:lvl9pPr>
              <a:defRPr sz="2550" b="0">
                <a:solidFill>
                  <a:srgbClr val="516573"/>
                </a:solidFill>
                <a:latin typeface="DejaVu Sans"/>
                <a:ea typeface="DejaVu Sans"/>
                <a:cs typeface="DejaVu Sans"/>
              </a:defRPr>
            </a:lvl9pPr>
          </a:lstStyle>
          <a:p xmlns:a="http://schemas.openxmlformats.org/drawingml/2006/main">
            <a:pPr>
              <a:lnSpc>
                <a:spcPct val="112000"/>
              </a:lnSpc>
              <a:buNone/>
              <a:defRPr sz="2550" b="0">
                <a:solidFill>
                  <a:srgbClr val="516573"/>
                </a:solidFill>
                <a:latin typeface="DejaVu Sans"/>
                <a:ea typeface="DejaVu Sans"/>
                <a:cs typeface="DejaVu Sans"/>
              </a:defRPr>
            </a:pPr>
            <a:r>
              <a:rPr sz="2550" b="0">
                <a:solidFill>
                  <a:srgbClr val="516573"/>
                </a:solidFill>
                <a:latin typeface="DejaVu Sans"/>
                <a:ea typeface="DejaVu Sans"/>
                <a:cs typeface="DejaVu Sans"/>
              </a:rPr>
              <a:t>A simple example of unsupervised machine learning</a:t>
            </a:r>
          </a:p>
        </p:txBody>
      </p:sp>
      <p:sp>
        <p:nvSpPr>
          <p:cNvPr id="3" name="cover-task">
            <a:extLst xmlns:a="http://schemas.openxmlformats.org/drawingml/2006/main">
              <a:ext uri="{FF2B5EF4-FFF2-40B4-BE49-F238E27FC236}">
                <a16:creationId xmlns:a16="http://schemas.microsoft.com/office/drawing/2014/main" id="{D9581012-74DB-480D-8F49-424A32315DC9}"/>
              </a:ext>
            </a:extLst>
          </p:cNvPr>
          <p:cNvSpPr>
            <a:spLocks xmlns:a="http://schemas.openxmlformats.org/drawingml/2006/main" noGrp="1"/>
          </p:cNvSpPr>
          <p:nvPr/>
        </p:nvSpPr>
        <p:spPr>
          <a:xfrm xmlns:a="http://schemas.openxmlformats.org/drawingml/2006/main">
            <a:off x="723900" y="5857875"/>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5D3FA8"/>
                </a:solidFill>
                <a:latin typeface="DejaVu Sans"/>
                <a:ea typeface="DejaVu Sans"/>
                <a:cs typeface="DejaVu Sans"/>
              </a:defRPr>
            </a:defPPr>
            <a:lvl1pPr>
              <a:defRPr sz="1875" b="1">
                <a:solidFill>
                  <a:srgbClr val="5D3FA8"/>
                </a:solidFill>
                <a:latin typeface="DejaVu Sans"/>
                <a:ea typeface="DejaVu Sans"/>
                <a:cs typeface="DejaVu Sans"/>
              </a:defRPr>
            </a:lvl1pPr>
            <a:lvl2pPr>
              <a:defRPr sz="1875" b="1">
                <a:solidFill>
                  <a:srgbClr val="5D3FA8"/>
                </a:solidFill>
                <a:latin typeface="DejaVu Sans"/>
                <a:ea typeface="DejaVu Sans"/>
                <a:cs typeface="DejaVu Sans"/>
              </a:defRPr>
            </a:lvl2pPr>
            <a:lvl3pPr>
              <a:defRPr sz="1875" b="1">
                <a:solidFill>
                  <a:srgbClr val="5D3FA8"/>
                </a:solidFill>
                <a:latin typeface="DejaVu Sans"/>
                <a:ea typeface="DejaVu Sans"/>
                <a:cs typeface="DejaVu Sans"/>
              </a:defRPr>
            </a:lvl3pPr>
            <a:lvl4pPr>
              <a:defRPr sz="1875" b="1">
                <a:solidFill>
                  <a:srgbClr val="5D3FA8"/>
                </a:solidFill>
                <a:latin typeface="DejaVu Sans"/>
                <a:ea typeface="DejaVu Sans"/>
                <a:cs typeface="DejaVu Sans"/>
              </a:defRPr>
            </a:lvl4pPr>
            <a:lvl5pPr>
              <a:defRPr sz="1875" b="1">
                <a:solidFill>
                  <a:srgbClr val="5D3FA8"/>
                </a:solidFill>
                <a:latin typeface="DejaVu Sans"/>
                <a:ea typeface="DejaVu Sans"/>
                <a:cs typeface="DejaVu Sans"/>
              </a:defRPr>
            </a:lvl5pPr>
            <a:lvl6pPr>
              <a:defRPr sz="1875" b="1">
                <a:solidFill>
                  <a:srgbClr val="5D3FA8"/>
                </a:solidFill>
                <a:latin typeface="DejaVu Sans"/>
                <a:ea typeface="DejaVu Sans"/>
                <a:cs typeface="DejaVu Sans"/>
              </a:defRPr>
            </a:lvl6pPr>
            <a:lvl7pPr>
              <a:defRPr sz="1875" b="1">
                <a:solidFill>
                  <a:srgbClr val="5D3FA8"/>
                </a:solidFill>
                <a:latin typeface="DejaVu Sans"/>
                <a:ea typeface="DejaVu Sans"/>
                <a:cs typeface="DejaVu Sans"/>
              </a:defRPr>
            </a:lvl7pPr>
            <a:lvl8pPr>
              <a:defRPr sz="1875" b="1">
                <a:solidFill>
                  <a:srgbClr val="5D3FA8"/>
                </a:solidFill>
                <a:latin typeface="DejaVu Sans"/>
                <a:ea typeface="DejaVu Sans"/>
                <a:cs typeface="DejaVu Sans"/>
              </a:defRPr>
            </a:lvl8pPr>
            <a:lvl9pPr>
              <a:defRPr sz="1875" b="1">
                <a:solidFill>
                  <a:srgbClr val="5D3FA8"/>
                </a:solidFill>
                <a:latin typeface="DejaVu Sans"/>
                <a:ea typeface="DejaVu Sans"/>
                <a:cs typeface="DejaVu Sans"/>
              </a:defRPr>
            </a:lvl9pPr>
          </a:lstStyle>
          <a:p xmlns:a="http://schemas.openxmlformats.org/drawingml/2006/main">
            <a:pPr>
              <a:lnSpc>
                <a:spcPct val="112000"/>
              </a:lnSpc>
              <a:buNone/>
              <a:defRPr sz="1875" b="1">
                <a:solidFill>
                  <a:srgbClr val="5D3FA8"/>
                </a:solidFill>
                <a:latin typeface="DejaVu Sans"/>
                <a:ea typeface="DejaVu Sans"/>
                <a:cs typeface="DejaVu Sans"/>
              </a:defRPr>
            </a:pPr>
            <a:r>
              <a:rPr sz="1875" b="1">
                <a:solidFill>
                  <a:srgbClr val="5D3FA8"/>
                </a:solidFill>
                <a:latin typeface="DejaVu Sans"/>
                <a:ea typeface="DejaVu Sans"/>
                <a:cs typeface="DejaVu Sans"/>
              </a:rPr>
              <a:t>Practical task 3</a:t>
            </a:r>
          </a:p>
        </p:txBody>
      </p:sp>
    </p:spTree>
    <p:extLst>
      <p:ext uri="{BB962C8B-B14F-4D97-AF65-F5344CB8AC3E}">
        <p14:creationId xmlns:p14="http://schemas.microsoft.com/office/powerpoint/2010/main" val="14845495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50C4B1D-8911-4B75-9FD0-DD6B828C0EBA}"/>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MiniSom at a glance</a:t>
            </a:r>
          </a:p>
        </p:txBody>
      </p:sp>
      <p:sp>
        <p:nvSpPr>
          <p:cNvPr id="2" name="slide-number">
            <a:extLst xmlns:a="http://schemas.openxmlformats.org/drawingml/2006/main">
              <a:ext uri="{FF2B5EF4-FFF2-40B4-BE49-F238E27FC236}">
                <a16:creationId xmlns:a16="http://schemas.microsoft.com/office/drawing/2014/main" id="{96DBA116-A432-4A13-BE73-3D613DD18398}"/>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02</a:t>
            </a:r>
          </a:p>
        </p:txBody>
      </p:sp>
      <p:sp>
        <p:nvSpPr>
          <p:cNvPr id="3" name="definition">
            <a:extLst xmlns:a="http://schemas.openxmlformats.org/drawingml/2006/main">
              <a:ext uri="{FF2B5EF4-FFF2-40B4-BE49-F238E27FC236}">
                <a16:creationId xmlns:a16="http://schemas.microsoft.com/office/drawing/2014/main" id="{127474CB-7055-49C9-BE15-9A230770A885}"/>
              </a:ext>
            </a:extLst>
          </p:cNvPr>
          <p:cNvSpPr>
            <a:spLocks xmlns:a="http://schemas.openxmlformats.org/drawingml/2006/main" noGrp="1"/>
          </p:cNvSpPr>
          <p:nvPr/>
        </p:nvSpPr>
        <p:spPr>
          <a:xfrm xmlns:a="http://schemas.openxmlformats.org/drawingml/2006/main">
            <a:off x="685800" y="15525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192C3B"/>
                </a:solidFill>
                <a:latin typeface="DejaVu Sans"/>
                <a:ea typeface="DejaVu Sans"/>
                <a:cs typeface="DejaVu Sans"/>
              </a:defRPr>
            </a:defPPr>
            <a:lvl1pPr>
              <a:defRPr sz="3000" b="1">
                <a:solidFill>
                  <a:srgbClr val="192C3B"/>
                </a:solidFill>
                <a:latin typeface="DejaVu Sans"/>
                <a:ea typeface="DejaVu Sans"/>
                <a:cs typeface="DejaVu Sans"/>
              </a:defRPr>
            </a:lvl1pPr>
            <a:lvl2pPr>
              <a:defRPr sz="3000" b="1">
                <a:solidFill>
                  <a:srgbClr val="192C3B"/>
                </a:solidFill>
                <a:latin typeface="DejaVu Sans"/>
                <a:ea typeface="DejaVu Sans"/>
                <a:cs typeface="DejaVu Sans"/>
              </a:defRPr>
            </a:lvl2pPr>
            <a:lvl3pPr>
              <a:defRPr sz="3000" b="1">
                <a:solidFill>
                  <a:srgbClr val="192C3B"/>
                </a:solidFill>
                <a:latin typeface="DejaVu Sans"/>
                <a:ea typeface="DejaVu Sans"/>
                <a:cs typeface="DejaVu Sans"/>
              </a:defRPr>
            </a:lvl3pPr>
            <a:lvl4pPr>
              <a:defRPr sz="3000" b="1">
                <a:solidFill>
                  <a:srgbClr val="192C3B"/>
                </a:solidFill>
                <a:latin typeface="DejaVu Sans"/>
                <a:ea typeface="DejaVu Sans"/>
                <a:cs typeface="DejaVu Sans"/>
              </a:defRPr>
            </a:lvl4pPr>
            <a:lvl5pPr>
              <a:defRPr sz="3000" b="1">
                <a:solidFill>
                  <a:srgbClr val="192C3B"/>
                </a:solidFill>
                <a:latin typeface="DejaVu Sans"/>
                <a:ea typeface="DejaVu Sans"/>
                <a:cs typeface="DejaVu Sans"/>
              </a:defRPr>
            </a:lvl5pPr>
            <a:lvl6pPr>
              <a:defRPr sz="3000" b="1">
                <a:solidFill>
                  <a:srgbClr val="192C3B"/>
                </a:solidFill>
                <a:latin typeface="DejaVu Sans"/>
                <a:ea typeface="DejaVu Sans"/>
                <a:cs typeface="DejaVu Sans"/>
              </a:defRPr>
            </a:lvl6pPr>
            <a:lvl7pPr>
              <a:defRPr sz="3000" b="1">
                <a:solidFill>
                  <a:srgbClr val="192C3B"/>
                </a:solidFill>
                <a:latin typeface="DejaVu Sans"/>
                <a:ea typeface="DejaVu Sans"/>
                <a:cs typeface="DejaVu Sans"/>
              </a:defRPr>
            </a:lvl7pPr>
            <a:lvl8pPr>
              <a:defRPr sz="3000" b="1">
                <a:solidFill>
                  <a:srgbClr val="192C3B"/>
                </a:solidFill>
                <a:latin typeface="DejaVu Sans"/>
                <a:ea typeface="DejaVu Sans"/>
                <a:cs typeface="DejaVu Sans"/>
              </a:defRPr>
            </a:lvl8pPr>
            <a:lvl9pPr>
              <a:defRPr sz="3000" b="1">
                <a:solidFill>
                  <a:srgbClr val="192C3B"/>
                </a:solidFill>
                <a:latin typeface="DejaVu Sans"/>
                <a:ea typeface="DejaVu Sans"/>
                <a:cs typeface="DejaVu Sans"/>
              </a:defRPr>
            </a:lvl9pPr>
          </a:lstStyle>
          <a:p xmlns:a="http://schemas.openxmlformats.org/drawingml/2006/main">
            <a:pPr>
              <a:lnSpc>
                <a:spcPct val="112000"/>
              </a:lnSpc>
              <a:buNone/>
              <a:defRPr sz="3000" b="1">
                <a:solidFill>
                  <a:srgbClr val="192C3B"/>
                </a:solidFill>
                <a:latin typeface="DejaVu Sans"/>
                <a:ea typeface="DejaVu Sans"/>
                <a:cs typeface="DejaVu Sans"/>
              </a:defRPr>
            </a:pPr>
            <a:r>
              <a:rPr sz="3000" b="1">
                <a:solidFill>
                  <a:srgbClr val="192C3B"/>
                </a:solidFill>
                <a:latin typeface="DejaVu Sans"/>
                <a:ea typeface="DejaVu Sans"/>
                <a:cs typeface="DejaVu Sans"/>
              </a:rPr>
              <a:t>A small Python library for</a:t>
            </a:r>
          </a:p>
          <a:p xmlns:a="http://schemas.openxmlformats.org/drawingml/2006/main">
            <a:pPr>
              <a:lnSpc>
                <a:spcPct val="112000"/>
              </a:lnSpc>
              <a:buNone/>
              <a:defRPr sz="3000" b="1">
                <a:solidFill>
                  <a:srgbClr val="192C3B"/>
                </a:solidFill>
                <a:latin typeface="DejaVu Sans"/>
                <a:ea typeface="DejaVu Sans"/>
                <a:cs typeface="DejaVu Sans"/>
              </a:defRPr>
            </a:pPr>
            <a:r>
              <a:rPr sz="3000" b="1">
                <a:solidFill>
                  <a:srgbClr val="192C3B"/>
                </a:solidFill>
                <a:latin typeface="DejaVu Sans"/>
                <a:ea typeface="DejaVu Sans"/>
                <a:cs typeface="DejaVu Sans"/>
              </a:rPr>
              <a:t>Self-Organizing Maps (SOM)</a:t>
            </a:r>
          </a:p>
        </p:txBody>
      </p:sp>
      <p:sp>
        <p:nvSpPr>
          <p:cNvPr id="4" name="term-0">
            <a:extLst xmlns:a="http://schemas.openxmlformats.org/drawingml/2006/main">
              <a:ext uri="{FF2B5EF4-FFF2-40B4-BE49-F238E27FC236}">
                <a16:creationId xmlns:a16="http://schemas.microsoft.com/office/drawing/2014/main" id="{A6144021-8900-476D-8BD0-E53EF356F420}"/>
              </a:ext>
            </a:extLst>
          </p:cNvPr>
          <p:cNvSpPr>
            <a:spLocks xmlns:a="http://schemas.openxmlformats.org/drawingml/2006/main" noGrp="1"/>
          </p:cNvSpPr>
          <p:nvPr/>
        </p:nvSpPr>
        <p:spPr>
          <a:xfrm xmlns:a="http://schemas.openxmlformats.org/drawingml/2006/main">
            <a:off x="685800" y="315277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5D3FA8"/>
                </a:solidFill>
                <a:latin typeface="DejaVu Sans"/>
                <a:ea typeface="DejaVu Sans"/>
                <a:cs typeface="DejaVu Sans"/>
              </a:defRPr>
            </a:defPPr>
            <a:lvl1pPr>
              <a:defRPr sz="2100" b="1">
                <a:solidFill>
                  <a:srgbClr val="5D3FA8"/>
                </a:solidFill>
                <a:latin typeface="DejaVu Sans"/>
                <a:ea typeface="DejaVu Sans"/>
                <a:cs typeface="DejaVu Sans"/>
              </a:defRPr>
            </a:lvl1pPr>
            <a:lvl2pPr>
              <a:defRPr sz="2100" b="1">
                <a:solidFill>
                  <a:srgbClr val="5D3FA8"/>
                </a:solidFill>
                <a:latin typeface="DejaVu Sans"/>
                <a:ea typeface="DejaVu Sans"/>
                <a:cs typeface="DejaVu Sans"/>
              </a:defRPr>
            </a:lvl2pPr>
            <a:lvl3pPr>
              <a:defRPr sz="2100" b="1">
                <a:solidFill>
                  <a:srgbClr val="5D3FA8"/>
                </a:solidFill>
                <a:latin typeface="DejaVu Sans"/>
                <a:ea typeface="DejaVu Sans"/>
                <a:cs typeface="DejaVu Sans"/>
              </a:defRPr>
            </a:lvl3pPr>
            <a:lvl4pPr>
              <a:defRPr sz="2100" b="1">
                <a:solidFill>
                  <a:srgbClr val="5D3FA8"/>
                </a:solidFill>
                <a:latin typeface="DejaVu Sans"/>
                <a:ea typeface="DejaVu Sans"/>
                <a:cs typeface="DejaVu Sans"/>
              </a:defRPr>
            </a:lvl4pPr>
            <a:lvl5pPr>
              <a:defRPr sz="2100" b="1">
                <a:solidFill>
                  <a:srgbClr val="5D3FA8"/>
                </a:solidFill>
                <a:latin typeface="DejaVu Sans"/>
                <a:ea typeface="DejaVu Sans"/>
                <a:cs typeface="DejaVu Sans"/>
              </a:defRPr>
            </a:lvl5pPr>
            <a:lvl6pPr>
              <a:defRPr sz="2100" b="1">
                <a:solidFill>
                  <a:srgbClr val="5D3FA8"/>
                </a:solidFill>
                <a:latin typeface="DejaVu Sans"/>
                <a:ea typeface="DejaVu Sans"/>
                <a:cs typeface="DejaVu Sans"/>
              </a:defRPr>
            </a:lvl6pPr>
            <a:lvl7pPr>
              <a:defRPr sz="2100" b="1">
                <a:solidFill>
                  <a:srgbClr val="5D3FA8"/>
                </a:solidFill>
                <a:latin typeface="DejaVu Sans"/>
                <a:ea typeface="DejaVu Sans"/>
                <a:cs typeface="DejaVu Sans"/>
              </a:defRPr>
            </a:lvl7pPr>
            <a:lvl8pPr>
              <a:defRPr sz="2100" b="1">
                <a:solidFill>
                  <a:srgbClr val="5D3FA8"/>
                </a:solidFill>
                <a:latin typeface="DejaVu Sans"/>
                <a:ea typeface="DejaVu Sans"/>
                <a:cs typeface="DejaVu Sans"/>
              </a:defRPr>
            </a:lvl8pPr>
            <a:lvl9pPr>
              <a:defRPr sz="2100" b="1">
                <a:solidFill>
                  <a:srgbClr val="5D3FA8"/>
                </a:solidFill>
                <a:latin typeface="DejaVu Sans"/>
                <a:ea typeface="DejaVu Sans"/>
                <a:cs typeface="DejaVu Sans"/>
              </a:defRPr>
            </a:lvl9pPr>
          </a:lstStyle>
          <a:p xmlns:a="http://schemas.openxmlformats.org/drawingml/2006/main">
            <a:pPr>
              <a:lnSpc>
                <a:spcPct val="112000"/>
              </a:lnSpc>
              <a:buNone/>
              <a:defRPr sz="2100" b="1">
                <a:solidFill>
                  <a:srgbClr val="5D3FA8"/>
                </a:solidFill>
                <a:latin typeface="DejaVu Sans"/>
                <a:ea typeface="DejaVu Sans"/>
                <a:cs typeface="DejaVu Sans"/>
              </a:defRPr>
            </a:pPr>
            <a:r>
              <a:rPr sz="2100" b="1">
                <a:solidFill>
                  <a:srgbClr val="5D3FA8"/>
                </a:solidFill>
                <a:latin typeface="DejaVu Sans"/>
                <a:ea typeface="DejaVu Sans"/>
                <a:cs typeface="DejaVu Sans"/>
              </a:rPr>
              <a:t>Learning type</a:t>
            </a:r>
          </a:p>
        </p:txBody>
      </p:sp>
      <p:sp>
        <p:nvSpPr>
          <p:cNvPr id="5" name="definition-0">
            <a:extLst xmlns:a="http://schemas.openxmlformats.org/drawingml/2006/main">
              <a:ext uri="{FF2B5EF4-FFF2-40B4-BE49-F238E27FC236}">
                <a16:creationId xmlns:a16="http://schemas.microsoft.com/office/drawing/2014/main" id="{3400BE13-9DA6-46A7-87B7-4D0C43AF0645}"/>
              </a:ext>
            </a:extLst>
          </p:cNvPr>
          <p:cNvSpPr>
            <a:spLocks xmlns:a="http://schemas.openxmlformats.org/drawingml/2006/main" noGrp="1"/>
          </p:cNvSpPr>
          <p:nvPr/>
        </p:nvSpPr>
        <p:spPr>
          <a:xfrm xmlns:a="http://schemas.openxmlformats.org/drawingml/2006/main">
            <a:off x="4333875" y="3152775"/>
            <a:ext cx="71723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2C3B"/>
                </a:solidFill>
                <a:latin typeface="DejaVu Sans"/>
                <a:ea typeface="DejaVu Sans"/>
                <a:cs typeface="DejaVu Sans"/>
              </a:defRPr>
            </a:defPPr>
            <a:lvl1pPr>
              <a:defRPr sz="2175" b="0">
                <a:solidFill>
                  <a:srgbClr val="192C3B"/>
                </a:solidFill>
                <a:latin typeface="DejaVu Sans"/>
                <a:ea typeface="DejaVu Sans"/>
                <a:cs typeface="DejaVu Sans"/>
              </a:defRPr>
            </a:lvl1pPr>
            <a:lvl2pPr>
              <a:defRPr sz="2175" b="0">
                <a:solidFill>
                  <a:srgbClr val="192C3B"/>
                </a:solidFill>
                <a:latin typeface="DejaVu Sans"/>
                <a:ea typeface="DejaVu Sans"/>
                <a:cs typeface="DejaVu Sans"/>
              </a:defRPr>
            </a:lvl2pPr>
            <a:lvl3pPr>
              <a:defRPr sz="2175" b="0">
                <a:solidFill>
                  <a:srgbClr val="192C3B"/>
                </a:solidFill>
                <a:latin typeface="DejaVu Sans"/>
                <a:ea typeface="DejaVu Sans"/>
                <a:cs typeface="DejaVu Sans"/>
              </a:defRPr>
            </a:lvl3pPr>
            <a:lvl4pPr>
              <a:defRPr sz="2175" b="0">
                <a:solidFill>
                  <a:srgbClr val="192C3B"/>
                </a:solidFill>
                <a:latin typeface="DejaVu Sans"/>
                <a:ea typeface="DejaVu Sans"/>
                <a:cs typeface="DejaVu Sans"/>
              </a:defRPr>
            </a:lvl4pPr>
            <a:lvl5pPr>
              <a:defRPr sz="2175" b="0">
                <a:solidFill>
                  <a:srgbClr val="192C3B"/>
                </a:solidFill>
                <a:latin typeface="DejaVu Sans"/>
                <a:ea typeface="DejaVu Sans"/>
                <a:cs typeface="DejaVu Sans"/>
              </a:defRPr>
            </a:lvl5pPr>
            <a:lvl6pPr>
              <a:defRPr sz="2175" b="0">
                <a:solidFill>
                  <a:srgbClr val="192C3B"/>
                </a:solidFill>
                <a:latin typeface="DejaVu Sans"/>
                <a:ea typeface="DejaVu Sans"/>
                <a:cs typeface="DejaVu Sans"/>
              </a:defRPr>
            </a:lvl6pPr>
            <a:lvl7pPr>
              <a:defRPr sz="2175" b="0">
                <a:solidFill>
                  <a:srgbClr val="192C3B"/>
                </a:solidFill>
                <a:latin typeface="DejaVu Sans"/>
                <a:ea typeface="DejaVu Sans"/>
                <a:cs typeface="DejaVu Sans"/>
              </a:defRPr>
            </a:lvl7pPr>
            <a:lvl8pPr>
              <a:defRPr sz="2175" b="0">
                <a:solidFill>
                  <a:srgbClr val="192C3B"/>
                </a:solidFill>
                <a:latin typeface="DejaVu Sans"/>
                <a:ea typeface="DejaVu Sans"/>
                <a:cs typeface="DejaVu Sans"/>
              </a:defRPr>
            </a:lvl8pPr>
            <a:lvl9pPr>
              <a:defRPr sz="2175" b="0">
                <a:solidFill>
                  <a:srgbClr val="192C3B"/>
                </a:solidFill>
                <a:latin typeface="DejaVu Sans"/>
                <a:ea typeface="DejaVu Sans"/>
                <a:cs typeface="DejaVu Sans"/>
              </a:defRPr>
            </a:lvl9pPr>
          </a:lstStyle>
          <a:p xmlns:a="http://schemas.openxmlformats.org/drawingml/2006/main">
            <a:pPr>
              <a:lnSpc>
                <a:spcPct val="112000"/>
              </a:lnSpc>
              <a:buNone/>
              <a:defRPr sz="2175" b="0">
                <a:solidFill>
                  <a:srgbClr val="192C3B"/>
                </a:solidFill>
                <a:latin typeface="DejaVu Sans"/>
                <a:ea typeface="DejaVu Sans"/>
                <a:cs typeface="DejaVu Sans"/>
              </a:defRPr>
            </a:pPr>
            <a:r>
              <a:rPr sz="2175" b="0">
                <a:solidFill>
                  <a:srgbClr val="192C3B"/>
                </a:solidFill>
                <a:latin typeface="DejaVu Sans"/>
                <a:ea typeface="DejaVu Sans"/>
                <a:cs typeface="DejaVu Sans"/>
              </a:rPr>
              <a:t>Unsupervised learning</a:t>
            </a:r>
          </a:p>
        </p:txBody>
      </p:sp>
      <p:sp>
        <p:nvSpPr>
          <p:cNvPr id="6" name="term-1">
            <a:extLst xmlns:a="http://schemas.openxmlformats.org/drawingml/2006/main">
              <a:ext uri="{FF2B5EF4-FFF2-40B4-BE49-F238E27FC236}">
                <a16:creationId xmlns:a16="http://schemas.microsoft.com/office/drawing/2014/main" id="{DA3943B2-0D12-4D2A-A636-846D5DE23D91}"/>
              </a:ext>
            </a:extLst>
          </p:cNvPr>
          <p:cNvSpPr>
            <a:spLocks xmlns:a="http://schemas.openxmlformats.org/drawingml/2006/main" noGrp="1"/>
          </p:cNvSpPr>
          <p:nvPr/>
        </p:nvSpPr>
        <p:spPr>
          <a:xfrm xmlns:a="http://schemas.openxmlformats.org/drawingml/2006/main">
            <a:off x="685800" y="38862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5D3FA8"/>
                </a:solidFill>
                <a:latin typeface="DejaVu Sans"/>
                <a:ea typeface="DejaVu Sans"/>
                <a:cs typeface="DejaVu Sans"/>
              </a:defRPr>
            </a:defPPr>
            <a:lvl1pPr>
              <a:defRPr sz="2100" b="1">
                <a:solidFill>
                  <a:srgbClr val="5D3FA8"/>
                </a:solidFill>
                <a:latin typeface="DejaVu Sans"/>
                <a:ea typeface="DejaVu Sans"/>
                <a:cs typeface="DejaVu Sans"/>
              </a:defRPr>
            </a:lvl1pPr>
            <a:lvl2pPr>
              <a:defRPr sz="2100" b="1">
                <a:solidFill>
                  <a:srgbClr val="5D3FA8"/>
                </a:solidFill>
                <a:latin typeface="DejaVu Sans"/>
                <a:ea typeface="DejaVu Sans"/>
                <a:cs typeface="DejaVu Sans"/>
              </a:defRPr>
            </a:lvl2pPr>
            <a:lvl3pPr>
              <a:defRPr sz="2100" b="1">
                <a:solidFill>
                  <a:srgbClr val="5D3FA8"/>
                </a:solidFill>
                <a:latin typeface="DejaVu Sans"/>
                <a:ea typeface="DejaVu Sans"/>
                <a:cs typeface="DejaVu Sans"/>
              </a:defRPr>
            </a:lvl3pPr>
            <a:lvl4pPr>
              <a:defRPr sz="2100" b="1">
                <a:solidFill>
                  <a:srgbClr val="5D3FA8"/>
                </a:solidFill>
                <a:latin typeface="DejaVu Sans"/>
                <a:ea typeface="DejaVu Sans"/>
                <a:cs typeface="DejaVu Sans"/>
              </a:defRPr>
            </a:lvl4pPr>
            <a:lvl5pPr>
              <a:defRPr sz="2100" b="1">
                <a:solidFill>
                  <a:srgbClr val="5D3FA8"/>
                </a:solidFill>
                <a:latin typeface="DejaVu Sans"/>
                <a:ea typeface="DejaVu Sans"/>
                <a:cs typeface="DejaVu Sans"/>
              </a:defRPr>
            </a:lvl5pPr>
            <a:lvl6pPr>
              <a:defRPr sz="2100" b="1">
                <a:solidFill>
                  <a:srgbClr val="5D3FA8"/>
                </a:solidFill>
                <a:latin typeface="DejaVu Sans"/>
                <a:ea typeface="DejaVu Sans"/>
                <a:cs typeface="DejaVu Sans"/>
              </a:defRPr>
            </a:lvl6pPr>
            <a:lvl7pPr>
              <a:defRPr sz="2100" b="1">
                <a:solidFill>
                  <a:srgbClr val="5D3FA8"/>
                </a:solidFill>
                <a:latin typeface="DejaVu Sans"/>
                <a:ea typeface="DejaVu Sans"/>
                <a:cs typeface="DejaVu Sans"/>
              </a:defRPr>
            </a:lvl7pPr>
            <a:lvl8pPr>
              <a:defRPr sz="2100" b="1">
                <a:solidFill>
                  <a:srgbClr val="5D3FA8"/>
                </a:solidFill>
                <a:latin typeface="DejaVu Sans"/>
                <a:ea typeface="DejaVu Sans"/>
                <a:cs typeface="DejaVu Sans"/>
              </a:defRPr>
            </a:lvl8pPr>
            <a:lvl9pPr>
              <a:defRPr sz="2100" b="1">
                <a:solidFill>
                  <a:srgbClr val="5D3FA8"/>
                </a:solidFill>
                <a:latin typeface="DejaVu Sans"/>
                <a:ea typeface="DejaVu Sans"/>
                <a:cs typeface="DejaVu Sans"/>
              </a:defRPr>
            </a:lvl9pPr>
          </a:lstStyle>
          <a:p xmlns:a="http://schemas.openxmlformats.org/drawingml/2006/main">
            <a:pPr>
              <a:lnSpc>
                <a:spcPct val="112000"/>
              </a:lnSpc>
              <a:buNone/>
              <a:defRPr sz="2100" b="1">
                <a:solidFill>
                  <a:srgbClr val="5D3FA8"/>
                </a:solidFill>
                <a:latin typeface="DejaVu Sans"/>
                <a:ea typeface="DejaVu Sans"/>
                <a:cs typeface="DejaVu Sans"/>
              </a:defRPr>
            </a:pPr>
            <a:r>
              <a:rPr sz="2100" b="1">
                <a:solidFill>
                  <a:srgbClr val="5D3FA8"/>
                </a:solidFill>
                <a:latin typeface="DejaVu Sans"/>
                <a:ea typeface="DejaVu Sans"/>
                <a:cs typeface="DejaVu Sans"/>
              </a:rPr>
              <a:t>Main dependency</a:t>
            </a:r>
          </a:p>
        </p:txBody>
      </p:sp>
      <p:sp>
        <p:nvSpPr>
          <p:cNvPr id="7" name="definition-1">
            <a:extLst xmlns:a="http://schemas.openxmlformats.org/drawingml/2006/main">
              <a:ext uri="{FF2B5EF4-FFF2-40B4-BE49-F238E27FC236}">
                <a16:creationId xmlns:a16="http://schemas.microsoft.com/office/drawing/2014/main" id="{2E26270F-926D-4AFD-95F9-63498110C8B8}"/>
              </a:ext>
            </a:extLst>
          </p:cNvPr>
          <p:cNvSpPr>
            <a:spLocks xmlns:a="http://schemas.openxmlformats.org/drawingml/2006/main" noGrp="1"/>
          </p:cNvSpPr>
          <p:nvPr/>
        </p:nvSpPr>
        <p:spPr>
          <a:xfrm xmlns:a="http://schemas.openxmlformats.org/drawingml/2006/main">
            <a:off x="4333875" y="3886200"/>
            <a:ext cx="71723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2C3B"/>
                </a:solidFill>
                <a:latin typeface="DejaVu Sans"/>
                <a:ea typeface="DejaVu Sans"/>
                <a:cs typeface="DejaVu Sans"/>
              </a:defRPr>
            </a:defPPr>
            <a:lvl1pPr>
              <a:defRPr sz="2175" b="0">
                <a:solidFill>
                  <a:srgbClr val="192C3B"/>
                </a:solidFill>
                <a:latin typeface="DejaVu Sans"/>
                <a:ea typeface="DejaVu Sans"/>
                <a:cs typeface="DejaVu Sans"/>
              </a:defRPr>
            </a:lvl1pPr>
            <a:lvl2pPr>
              <a:defRPr sz="2175" b="0">
                <a:solidFill>
                  <a:srgbClr val="192C3B"/>
                </a:solidFill>
                <a:latin typeface="DejaVu Sans"/>
                <a:ea typeface="DejaVu Sans"/>
                <a:cs typeface="DejaVu Sans"/>
              </a:defRPr>
            </a:lvl2pPr>
            <a:lvl3pPr>
              <a:defRPr sz="2175" b="0">
                <a:solidFill>
                  <a:srgbClr val="192C3B"/>
                </a:solidFill>
                <a:latin typeface="DejaVu Sans"/>
                <a:ea typeface="DejaVu Sans"/>
                <a:cs typeface="DejaVu Sans"/>
              </a:defRPr>
            </a:lvl3pPr>
            <a:lvl4pPr>
              <a:defRPr sz="2175" b="0">
                <a:solidFill>
                  <a:srgbClr val="192C3B"/>
                </a:solidFill>
                <a:latin typeface="DejaVu Sans"/>
                <a:ea typeface="DejaVu Sans"/>
                <a:cs typeface="DejaVu Sans"/>
              </a:defRPr>
            </a:lvl4pPr>
            <a:lvl5pPr>
              <a:defRPr sz="2175" b="0">
                <a:solidFill>
                  <a:srgbClr val="192C3B"/>
                </a:solidFill>
                <a:latin typeface="DejaVu Sans"/>
                <a:ea typeface="DejaVu Sans"/>
                <a:cs typeface="DejaVu Sans"/>
              </a:defRPr>
            </a:lvl5pPr>
            <a:lvl6pPr>
              <a:defRPr sz="2175" b="0">
                <a:solidFill>
                  <a:srgbClr val="192C3B"/>
                </a:solidFill>
                <a:latin typeface="DejaVu Sans"/>
                <a:ea typeface="DejaVu Sans"/>
                <a:cs typeface="DejaVu Sans"/>
              </a:defRPr>
            </a:lvl6pPr>
            <a:lvl7pPr>
              <a:defRPr sz="2175" b="0">
                <a:solidFill>
                  <a:srgbClr val="192C3B"/>
                </a:solidFill>
                <a:latin typeface="DejaVu Sans"/>
                <a:ea typeface="DejaVu Sans"/>
                <a:cs typeface="DejaVu Sans"/>
              </a:defRPr>
            </a:lvl7pPr>
            <a:lvl8pPr>
              <a:defRPr sz="2175" b="0">
                <a:solidFill>
                  <a:srgbClr val="192C3B"/>
                </a:solidFill>
                <a:latin typeface="DejaVu Sans"/>
                <a:ea typeface="DejaVu Sans"/>
                <a:cs typeface="DejaVu Sans"/>
              </a:defRPr>
            </a:lvl8pPr>
            <a:lvl9pPr>
              <a:defRPr sz="2175" b="0">
                <a:solidFill>
                  <a:srgbClr val="192C3B"/>
                </a:solidFill>
                <a:latin typeface="DejaVu Sans"/>
                <a:ea typeface="DejaVu Sans"/>
                <a:cs typeface="DejaVu Sans"/>
              </a:defRPr>
            </a:lvl9pPr>
          </a:lstStyle>
          <a:p xmlns:a="http://schemas.openxmlformats.org/drawingml/2006/main">
            <a:pPr>
              <a:lnSpc>
                <a:spcPct val="112000"/>
              </a:lnSpc>
              <a:buNone/>
              <a:defRPr sz="2175" b="0">
                <a:solidFill>
                  <a:srgbClr val="192C3B"/>
                </a:solidFill>
                <a:latin typeface="DejaVu Sans"/>
                <a:ea typeface="DejaVu Sans"/>
                <a:cs typeface="DejaVu Sans"/>
              </a:defRPr>
            </a:pPr>
            <a:r>
              <a:rPr sz="2175" b="0">
                <a:solidFill>
                  <a:srgbClr val="192C3B"/>
                </a:solidFill>
                <a:latin typeface="DejaVu Sans"/>
                <a:ea typeface="DejaVu Sans"/>
                <a:cs typeface="DejaVu Sans"/>
              </a:rPr>
              <a:t>NumPy</a:t>
            </a:r>
          </a:p>
        </p:txBody>
      </p:sp>
      <p:sp>
        <p:nvSpPr>
          <p:cNvPr id="8" name="term-2">
            <a:extLst xmlns:a="http://schemas.openxmlformats.org/drawingml/2006/main">
              <a:ext uri="{FF2B5EF4-FFF2-40B4-BE49-F238E27FC236}">
                <a16:creationId xmlns:a16="http://schemas.microsoft.com/office/drawing/2014/main" id="{1100D03A-280C-4610-9C39-606DEC15398C}"/>
              </a:ext>
            </a:extLst>
          </p:cNvPr>
          <p:cNvSpPr>
            <a:spLocks xmlns:a="http://schemas.openxmlformats.org/drawingml/2006/main" noGrp="1"/>
          </p:cNvSpPr>
          <p:nvPr/>
        </p:nvSpPr>
        <p:spPr>
          <a:xfrm xmlns:a="http://schemas.openxmlformats.org/drawingml/2006/main">
            <a:off x="685800" y="461962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5D3FA8"/>
                </a:solidFill>
                <a:latin typeface="DejaVu Sans"/>
                <a:ea typeface="DejaVu Sans"/>
                <a:cs typeface="DejaVu Sans"/>
              </a:defRPr>
            </a:defPPr>
            <a:lvl1pPr>
              <a:defRPr sz="2100" b="1">
                <a:solidFill>
                  <a:srgbClr val="5D3FA8"/>
                </a:solidFill>
                <a:latin typeface="DejaVu Sans"/>
                <a:ea typeface="DejaVu Sans"/>
                <a:cs typeface="DejaVu Sans"/>
              </a:defRPr>
            </a:lvl1pPr>
            <a:lvl2pPr>
              <a:defRPr sz="2100" b="1">
                <a:solidFill>
                  <a:srgbClr val="5D3FA8"/>
                </a:solidFill>
                <a:latin typeface="DejaVu Sans"/>
                <a:ea typeface="DejaVu Sans"/>
                <a:cs typeface="DejaVu Sans"/>
              </a:defRPr>
            </a:lvl2pPr>
            <a:lvl3pPr>
              <a:defRPr sz="2100" b="1">
                <a:solidFill>
                  <a:srgbClr val="5D3FA8"/>
                </a:solidFill>
                <a:latin typeface="DejaVu Sans"/>
                <a:ea typeface="DejaVu Sans"/>
                <a:cs typeface="DejaVu Sans"/>
              </a:defRPr>
            </a:lvl3pPr>
            <a:lvl4pPr>
              <a:defRPr sz="2100" b="1">
                <a:solidFill>
                  <a:srgbClr val="5D3FA8"/>
                </a:solidFill>
                <a:latin typeface="DejaVu Sans"/>
                <a:ea typeface="DejaVu Sans"/>
                <a:cs typeface="DejaVu Sans"/>
              </a:defRPr>
            </a:lvl4pPr>
            <a:lvl5pPr>
              <a:defRPr sz="2100" b="1">
                <a:solidFill>
                  <a:srgbClr val="5D3FA8"/>
                </a:solidFill>
                <a:latin typeface="DejaVu Sans"/>
                <a:ea typeface="DejaVu Sans"/>
                <a:cs typeface="DejaVu Sans"/>
              </a:defRPr>
            </a:lvl5pPr>
            <a:lvl6pPr>
              <a:defRPr sz="2100" b="1">
                <a:solidFill>
                  <a:srgbClr val="5D3FA8"/>
                </a:solidFill>
                <a:latin typeface="DejaVu Sans"/>
                <a:ea typeface="DejaVu Sans"/>
                <a:cs typeface="DejaVu Sans"/>
              </a:defRPr>
            </a:lvl6pPr>
            <a:lvl7pPr>
              <a:defRPr sz="2100" b="1">
                <a:solidFill>
                  <a:srgbClr val="5D3FA8"/>
                </a:solidFill>
                <a:latin typeface="DejaVu Sans"/>
                <a:ea typeface="DejaVu Sans"/>
                <a:cs typeface="DejaVu Sans"/>
              </a:defRPr>
            </a:lvl7pPr>
            <a:lvl8pPr>
              <a:defRPr sz="2100" b="1">
                <a:solidFill>
                  <a:srgbClr val="5D3FA8"/>
                </a:solidFill>
                <a:latin typeface="DejaVu Sans"/>
                <a:ea typeface="DejaVu Sans"/>
                <a:cs typeface="DejaVu Sans"/>
              </a:defRPr>
            </a:lvl8pPr>
            <a:lvl9pPr>
              <a:defRPr sz="2100" b="1">
                <a:solidFill>
                  <a:srgbClr val="5D3FA8"/>
                </a:solidFill>
                <a:latin typeface="DejaVu Sans"/>
                <a:ea typeface="DejaVu Sans"/>
                <a:cs typeface="DejaVu Sans"/>
              </a:defRPr>
            </a:lvl9pPr>
          </a:lstStyle>
          <a:p xmlns:a="http://schemas.openxmlformats.org/drawingml/2006/main">
            <a:pPr>
              <a:lnSpc>
                <a:spcPct val="112000"/>
              </a:lnSpc>
              <a:buNone/>
              <a:defRPr sz="2100" b="1">
                <a:solidFill>
                  <a:srgbClr val="5D3FA8"/>
                </a:solidFill>
                <a:latin typeface="DejaVu Sans"/>
                <a:ea typeface="DejaVu Sans"/>
                <a:cs typeface="DejaVu Sans"/>
              </a:defRPr>
            </a:pPr>
            <a:r>
              <a:rPr sz="2100" b="1">
                <a:solidFill>
                  <a:srgbClr val="5D3FA8"/>
                </a:solidFill>
                <a:latin typeface="DejaVu Sans"/>
                <a:ea typeface="DejaVu Sans"/>
                <a:cs typeface="DejaVu Sans"/>
              </a:rPr>
              <a:t>Main purpose</a:t>
            </a:r>
          </a:p>
        </p:txBody>
      </p:sp>
      <p:sp>
        <p:nvSpPr>
          <p:cNvPr id="9" name="definition-2">
            <a:extLst xmlns:a="http://schemas.openxmlformats.org/drawingml/2006/main">
              <a:ext uri="{FF2B5EF4-FFF2-40B4-BE49-F238E27FC236}">
                <a16:creationId xmlns:a16="http://schemas.microsoft.com/office/drawing/2014/main" id="{5F65D952-4F1B-484F-9225-4AA3D2C04653}"/>
              </a:ext>
            </a:extLst>
          </p:cNvPr>
          <p:cNvSpPr>
            <a:spLocks xmlns:a="http://schemas.openxmlformats.org/drawingml/2006/main" noGrp="1"/>
          </p:cNvSpPr>
          <p:nvPr/>
        </p:nvSpPr>
        <p:spPr>
          <a:xfrm xmlns:a="http://schemas.openxmlformats.org/drawingml/2006/main">
            <a:off x="4333875" y="4619625"/>
            <a:ext cx="71723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2C3B"/>
                </a:solidFill>
                <a:latin typeface="DejaVu Sans"/>
                <a:ea typeface="DejaVu Sans"/>
                <a:cs typeface="DejaVu Sans"/>
              </a:defRPr>
            </a:defPPr>
            <a:lvl1pPr>
              <a:defRPr sz="2175" b="0">
                <a:solidFill>
                  <a:srgbClr val="192C3B"/>
                </a:solidFill>
                <a:latin typeface="DejaVu Sans"/>
                <a:ea typeface="DejaVu Sans"/>
                <a:cs typeface="DejaVu Sans"/>
              </a:defRPr>
            </a:lvl1pPr>
            <a:lvl2pPr>
              <a:defRPr sz="2175" b="0">
                <a:solidFill>
                  <a:srgbClr val="192C3B"/>
                </a:solidFill>
                <a:latin typeface="DejaVu Sans"/>
                <a:ea typeface="DejaVu Sans"/>
                <a:cs typeface="DejaVu Sans"/>
              </a:defRPr>
            </a:lvl2pPr>
            <a:lvl3pPr>
              <a:defRPr sz="2175" b="0">
                <a:solidFill>
                  <a:srgbClr val="192C3B"/>
                </a:solidFill>
                <a:latin typeface="DejaVu Sans"/>
                <a:ea typeface="DejaVu Sans"/>
                <a:cs typeface="DejaVu Sans"/>
              </a:defRPr>
            </a:lvl3pPr>
            <a:lvl4pPr>
              <a:defRPr sz="2175" b="0">
                <a:solidFill>
                  <a:srgbClr val="192C3B"/>
                </a:solidFill>
                <a:latin typeface="DejaVu Sans"/>
                <a:ea typeface="DejaVu Sans"/>
                <a:cs typeface="DejaVu Sans"/>
              </a:defRPr>
            </a:lvl4pPr>
            <a:lvl5pPr>
              <a:defRPr sz="2175" b="0">
                <a:solidFill>
                  <a:srgbClr val="192C3B"/>
                </a:solidFill>
                <a:latin typeface="DejaVu Sans"/>
                <a:ea typeface="DejaVu Sans"/>
                <a:cs typeface="DejaVu Sans"/>
              </a:defRPr>
            </a:lvl5pPr>
            <a:lvl6pPr>
              <a:defRPr sz="2175" b="0">
                <a:solidFill>
                  <a:srgbClr val="192C3B"/>
                </a:solidFill>
                <a:latin typeface="DejaVu Sans"/>
                <a:ea typeface="DejaVu Sans"/>
                <a:cs typeface="DejaVu Sans"/>
              </a:defRPr>
            </a:lvl6pPr>
            <a:lvl7pPr>
              <a:defRPr sz="2175" b="0">
                <a:solidFill>
                  <a:srgbClr val="192C3B"/>
                </a:solidFill>
                <a:latin typeface="DejaVu Sans"/>
                <a:ea typeface="DejaVu Sans"/>
                <a:cs typeface="DejaVu Sans"/>
              </a:defRPr>
            </a:lvl7pPr>
            <a:lvl8pPr>
              <a:defRPr sz="2175" b="0">
                <a:solidFill>
                  <a:srgbClr val="192C3B"/>
                </a:solidFill>
                <a:latin typeface="DejaVu Sans"/>
                <a:ea typeface="DejaVu Sans"/>
                <a:cs typeface="DejaVu Sans"/>
              </a:defRPr>
            </a:lvl8pPr>
            <a:lvl9pPr>
              <a:defRPr sz="2175" b="0">
                <a:solidFill>
                  <a:srgbClr val="192C3B"/>
                </a:solidFill>
                <a:latin typeface="DejaVu Sans"/>
                <a:ea typeface="DejaVu Sans"/>
                <a:cs typeface="DejaVu Sans"/>
              </a:defRPr>
            </a:lvl9pPr>
          </a:lstStyle>
          <a:p xmlns:a="http://schemas.openxmlformats.org/drawingml/2006/main">
            <a:pPr>
              <a:lnSpc>
                <a:spcPct val="112000"/>
              </a:lnSpc>
              <a:buNone/>
              <a:defRPr sz="2175" b="0">
                <a:solidFill>
                  <a:srgbClr val="192C3B"/>
                </a:solidFill>
                <a:latin typeface="DejaVu Sans"/>
                <a:ea typeface="DejaVu Sans"/>
                <a:cs typeface="DejaVu Sans"/>
              </a:defRPr>
            </a:pPr>
            <a:r>
              <a:rPr sz="2175" b="0">
                <a:solidFill>
                  <a:srgbClr val="192C3B"/>
                </a:solidFill>
                <a:latin typeface="DejaVu Sans"/>
                <a:ea typeface="DejaVu Sans"/>
                <a:cs typeface="DejaVu Sans"/>
              </a:rPr>
              <a:t>Explore patterns on a 2D grid</a:t>
            </a:r>
          </a:p>
        </p:txBody>
      </p:sp>
      <p:sp>
        <p:nvSpPr>
          <p:cNvPr id="10" name="install">
            <a:extLst xmlns:a="http://schemas.openxmlformats.org/drawingml/2006/main">
              <a:ext uri="{FF2B5EF4-FFF2-40B4-BE49-F238E27FC236}">
                <a16:creationId xmlns:a16="http://schemas.microsoft.com/office/drawing/2014/main" id="{3B9881E6-9FEE-4708-B65B-A44FC9557D7F}"/>
              </a:ext>
            </a:extLst>
          </p:cNvPr>
          <p:cNvSpPr>
            <a:spLocks xmlns:a="http://schemas.openxmlformats.org/drawingml/2006/main" noGrp="1"/>
          </p:cNvSpPr>
          <p:nvPr/>
        </p:nvSpPr>
        <p:spPr>
          <a:xfrm xmlns:a="http://schemas.openxmlformats.org/drawingml/2006/main">
            <a:off x="685800" y="5686425"/>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087F80"/>
                </a:solidFill>
                <a:latin typeface="DejaVu Sans Mono"/>
                <a:ea typeface="DejaVu Sans Mono"/>
                <a:cs typeface="DejaVu Sans Mono"/>
              </a:defRPr>
            </a:defPPr>
            <a:lvl1pPr>
              <a:defRPr sz="2325" b="0">
                <a:solidFill>
                  <a:srgbClr val="087F80"/>
                </a:solidFill>
                <a:latin typeface="DejaVu Sans Mono"/>
                <a:ea typeface="DejaVu Sans Mono"/>
                <a:cs typeface="DejaVu Sans Mono"/>
              </a:defRPr>
            </a:lvl1pPr>
            <a:lvl2pPr>
              <a:defRPr sz="2325" b="0">
                <a:solidFill>
                  <a:srgbClr val="087F80"/>
                </a:solidFill>
                <a:latin typeface="DejaVu Sans Mono"/>
                <a:ea typeface="DejaVu Sans Mono"/>
                <a:cs typeface="DejaVu Sans Mono"/>
              </a:defRPr>
            </a:lvl2pPr>
            <a:lvl3pPr>
              <a:defRPr sz="2325" b="0">
                <a:solidFill>
                  <a:srgbClr val="087F80"/>
                </a:solidFill>
                <a:latin typeface="DejaVu Sans Mono"/>
                <a:ea typeface="DejaVu Sans Mono"/>
                <a:cs typeface="DejaVu Sans Mono"/>
              </a:defRPr>
            </a:lvl3pPr>
            <a:lvl4pPr>
              <a:defRPr sz="2325" b="0">
                <a:solidFill>
                  <a:srgbClr val="087F80"/>
                </a:solidFill>
                <a:latin typeface="DejaVu Sans Mono"/>
                <a:ea typeface="DejaVu Sans Mono"/>
                <a:cs typeface="DejaVu Sans Mono"/>
              </a:defRPr>
            </a:lvl4pPr>
            <a:lvl5pPr>
              <a:defRPr sz="2325" b="0">
                <a:solidFill>
                  <a:srgbClr val="087F80"/>
                </a:solidFill>
                <a:latin typeface="DejaVu Sans Mono"/>
                <a:ea typeface="DejaVu Sans Mono"/>
                <a:cs typeface="DejaVu Sans Mono"/>
              </a:defRPr>
            </a:lvl5pPr>
            <a:lvl6pPr>
              <a:defRPr sz="2325" b="0">
                <a:solidFill>
                  <a:srgbClr val="087F80"/>
                </a:solidFill>
                <a:latin typeface="DejaVu Sans Mono"/>
                <a:ea typeface="DejaVu Sans Mono"/>
                <a:cs typeface="DejaVu Sans Mono"/>
              </a:defRPr>
            </a:lvl6pPr>
            <a:lvl7pPr>
              <a:defRPr sz="2325" b="0">
                <a:solidFill>
                  <a:srgbClr val="087F80"/>
                </a:solidFill>
                <a:latin typeface="DejaVu Sans Mono"/>
                <a:ea typeface="DejaVu Sans Mono"/>
                <a:cs typeface="DejaVu Sans Mono"/>
              </a:defRPr>
            </a:lvl7pPr>
            <a:lvl8pPr>
              <a:defRPr sz="2325" b="0">
                <a:solidFill>
                  <a:srgbClr val="087F80"/>
                </a:solidFill>
                <a:latin typeface="DejaVu Sans Mono"/>
                <a:ea typeface="DejaVu Sans Mono"/>
                <a:cs typeface="DejaVu Sans Mono"/>
              </a:defRPr>
            </a:lvl8pPr>
            <a:lvl9pPr>
              <a:defRPr sz="2325" b="0">
                <a:solidFill>
                  <a:srgbClr val="087F80"/>
                </a:solidFill>
                <a:latin typeface="DejaVu Sans Mono"/>
                <a:ea typeface="DejaVu Sans Mono"/>
                <a:cs typeface="DejaVu Sans Mono"/>
              </a:defRPr>
            </a:lvl9pPr>
          </a:lstStyle>
          <a:p xmlns:a="http://schemas.openxmlformats.org/drawingml/2006/main">
            <a:pPr>
              <a:lnSpc>
                <a:spcPct val="112000"/>
              </a:lnSpc>
              <a:buNone/>
              <a:defRPr sz="2325" b="0">
                <a:solidFill>
                  <a:srgbClr val="087F80"/>
                </a:solidFill>
                <a:latin typeface="DejaVu Sans Mono"/>
                <a:ea typeface="DejaVu Sans Mono"/>
                <a:cs typeface="DejaVu Sans Mono"/>
              </a:defRPr>
            </a:pPr>
            <a:r>
              <a:rPr sz="2325" b="0">
                <a:solidFill>
                  <a:srgbClr val="087F80"/>
                </a:solidFill>
                <a:latin typeface="DejaVu Sans Mono"/>
                <a:ea typeface="DejaVu Sans Mono"/>
                <a:cs typeface="DejaVu Sans Mono"/>
              </a:rPr>
              <a:t>pip install minisom</a:t>
            </a:r>
          </a:p>
        </p:txBody>
      </p:sp>
    </p:spTree>
    <p:extLst>
      <p:ext uri="{BB962C8B-B14F-4D97-AF65-F5344CB8AC3E}">
        <p14:creationId xmlns:p14="http://schemas.microsoft.com/office/powerpoint/2010/main" val="2141009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72EBE9A-F8B1-40B9-9912-F7FC8A0004CA}"/>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Colors as numerical data</a:t>
            </a:r>
          </a:p>
        </p:txBody>
      </p:sp>
      <p:sp>
        <p:nvSpPr>
          <p:cNvPr id="2" name="slide-number">
            <a:extLst xmlns:a="http://schemas.openxmlformats.org/drawingml/2006/main">
              <a:ext uri="{FF2B5EF4-FFF2-40B4-BE49-F238E27FC236}">
                <a16:creationId xmlns:a16="http://schemas.microsoft.com/office/drawing/2014/main" id="{BAE98E40-CCAA-4750-856D-72DC06486A26}"/>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03</a:t>
            </a:r>
          </a:p>
        </p:txBody>
      </p:sp>
      <p:sp>
        <p:nvSpPr>
          <p:cNvPr id="3" name="rgb-definition">
            <a:extLst xmlns:a="http://schemas.openxmlformats.org/drawingml/2006/main">
              <a:ext uri="{FF2B5EF4-FFF2-40B4-BE49-F238E27FC236}">
                <a16:creationId xmlns:a16="http://schemas.microsoft.com/office/drawing/2014/main" id="{AA697C5A-DA1C-4624-9EB4-DA860D66401C}"/>
              </a:ext>
            </a:extLst>
          </p:cNvPr>
          <p:cNvSpPr>
            <a:spLocks xmlns:a="http://schemas.openxmlformats.org/drawingml/2006/main" noGrp="1"/>
          </p:cNvSpPr>
          <p:nvPr/>
        </p:nvSpPr>
        <p:spPr>
          <a:xfrm xmlns:a="http://schemas.openxmlformats.org/drawingml/2006/main">
            <a:off x="685800" y="14382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2C3B"/>
                </a:solidFill>
                <a:latin typeface="DejaVu Sans"/>
                <a:ea typeface="DejaVu Sans"/>
                <a:cs typeface="DejaVu Sans"/>
              </a:defRPr>
            </a:defPPr>
            <a:lvl1pPr>
              <a:defRPr sz="2175" b="0">
                <a:solidFill>
                  <a:srgbClr val="192C3B"/>
                </a:solidFill>
                <a:latin typeface="DejaVu Sans"/>
                <a:ea typeface="DejaVu Sans"/>
                <a:cs typeface="DejaVu Sans"/>
              </a:defRPr>
            </a:lvl1pPr>
            <a:lvl2pPr>
              <a:defRPr sz="2175" b="0">
                <a:solidFill>
                  <a:srgbClr val="192C3B"/>
                </a:solidFill>
                <a:latin typeface="DejaVu Sans"/>
                <a:ea typeface="DejaVu Sans"/>
                <a:cs typeface="DejaVu Sans"/>
              </a:defRPr>
            </a:lvl2pPr>
            <a:lvl3pPr>
              <a:defRPr sz="2175" b="0">
                <a:solidFill>
                  <a:srgbClr val="192C3B"/>
                </a:solidFill>
                <a:latin typeface="DejaVu Sans"/>
                <a:ea typeface="DejaVu Sans"/>
                <a:cs typeface="DejaVu Sans"/>
              </a:defRPr>
            </a:lvl3pPr>
            <a:lvl4pPr>
              <a:defRPr sz="2175" b="0">
                <a:solidFill>
                  <a:srgbClr val="192C3B"/>
                </a:solidFill>
                <a:latin typeface="DejaVu Sans"/>
                <a:ea typeface="DejaVu Sans"/>
                <a:cs typeface="DejaVu Sans"/>
              </a:defRPr>
            </a:lvl4pPr>
            <a:lvl5pPr>
              <a:defRPr sz="2175" b="0">
                <a:solidFill>
                  <a:srgbClr val="192C3B"/>
                </a:solidFill>
                <a:latin typeface="DejaVu Sans"/>
                <a:ea typeface="DejaVu Sans"/>
                <a:cs typeface="DejaVu Sans"/>
              </a:defRPr>
            </a:lvl5pPr>
            <a:lvl6pPr>
              <a:defRPr sz="2175" b="0">
                <a:solidFill>
                  <a:srgbClr val="192C3B"/>
                </a:solidFill>
                <a:latin typeface="DejaVu Sans"/>
                <a:ea typeface="DejaVu Sans"/>
                <a:cs typeface="DejaVu Sans"/>
              </a:defRPr>
            </a:lvl6pPr>
            <a:lvl7pPr>
              <a:defRPr sz="2175" b="0">
                <a:solidFill>
                  <a:srgbClr val="192C3B"/>
                </a:solidFill>
                <a:latin typeface="DejaVu Sans"/>
                <a:ea typeface="DejaVu Sans"/>
                <a:cs typeface="DejaVu Sans"/>
              </a:defRPr>
            </a:lvl7pPr>
            <a:lvl8pPr>
              <a:defRPr sz="2175" b="0">
                <a:solidFill>
                  <a:srgbClr val="192C3B"/>
                </a:solidFill>
                <a:latin typeface="DejaVu Sans"/>
                <a:ea typeface="DejaVu Sans"/>
                <a:cs typeface="DejaVu Sans"/>
              </a:defRPr>
            </a:lvl8pPr>
            <a:lvl9pPr>
              <a:defRPr sz="2175" b="0">
                <a:solidFill>
                  <a:srgbClr val="192C3B"/>
                </a:solidFill>
                <a:latin typeface="DejaVu Sans"/>
                <a:ea typeface="DejaVu Sans"/>
                <a:cs typeface="DejaVu Sans"/>
              </a:defRPr>
            </a:lvl9pPr>
          </a:lstStyle>
          <a:p xmlns:a="http://schemas.openxmlformats.org/drawingml/2006/main">
            <a:pPr>
              <a:lnSpc>
                <a:spcPct val="112000"/>
              </a:lnSpc>
              <a:buNone/>
              <a:defRPr sz="2175" b="0">
                <a:solidFill>
                  <a:srgbClr val="192C3B"/>
                </a:solidFill>
                <a:latin typeface="DejaVu Sans"/>
                <a:ea typeface="DejaVu Sans"/>
                <a:cs typeface="DejaVu Sans"/>
              </a:defRPr>
            </a:pPr>
            <a:r>
              <a:rPr sz="2175" b="0">
                <a:solidFill>
                  <a:srgbClr val="192C3B"/>
                </a:solidFill>
                <a:latin typeface="DejaVu Sans"/>
                <a:ea typeface="DejaVu Sans"/>
                <a:cs typeface="DejaVu Sans"/>
              </a:rPr>
              <a:t>One color is a vector of three RGB values between 0 and 1.</a:t>
            </a:r>
          </a:p>
        </p:txBody>
      </p:sp>
      <p:graphicFrame>
        <p:nvGraphicFramePr>
          <p:cNvPr id="4" name="">
            <a:extLst xmlns:a="http://schemas.openxmlformats.org/drawingml/2006/main">
              <a:ext uri="{FF2B5EF4-FFF2-40B4-BE49-F238E27FC236}">
                <a16:creationId xmlns:a16="http://schemas.microsoft.com/office/drawing/2014/main" id="{633A1065-1F16-48F0-B6AE-B17F30906CA8}"/>
              </a:ext>
            </a:extLst>
          </p:cNvPr>
          <p:cNvGraphicFramePr/>
          <p:nvPr/>
        </p:nvGraphicFramePr>
        <p:xfrm>
          <a:off xmlns:a="http://schemas.openxmlformats.org/drawingml/2006/main" x="685800" y="2333625"/>
          <a:ext xmlns:a="http://schemas.openxmlformats.org/drawingml/2006/main" cx="10820400" cy="2667000"/>
        </p:xfrm>
        <a:graphic xmlns:a="http://schemas.openxmlformats.org/drawingml/2006/main">
          <a:graphicData uri="http://schemas.openxmlformats.org/drawingml/2006/table">
            <a:tbl>
              <a:tblPr/>
              <a:tblGrid>
                <a:gridCol w="3962400"/>
                <a:gridCol w="2286000"/>
                <a:gridCol w="2286000"/>
                <a:gridCol w="2286000"/>
              </a:tblGrid>
              <a:tr h="666750">
                <a:tc>
                  <a:txBody>
                    <a:bodyPr lIns="133350" tIns="133350" rIns="133350" bIns="133350"/>
                    <a:lstStyle/>
                    <a:p>
                      <a:r>
                        <a:rPr sz="2025" b="1">
                          <a:solidFill>
                            <a:srgbClr val="FFFFFF"/>
                          </a:solidFill>
                          <a:latin typeface="DejaVu Sans"/>
                          <a:ea typeface="DejaVu Sans"/>
                          <a:cs typeface="DejaVu Sans"/>
                        </a:rPr>
                        <a:t>Example</a:t>
                      </a:r>
                    </a:p>
                  </a:txBody>
                  <a:tcPr marL="190500" marR="171450" marT="133350" marB="133350" anchor="ctr">
                    <a:lnL w="9525">
                      <a:solidFill>
                        <a:srgbClr val="D6DEE4"/>
                      </a:solidFill>
                      <a:prstDash val="solid"/>
                    </a:lnL>
                    <a:lnR w="9525">
                      <a:solidFill>
                        <a:srgbClr val="D6DEE4"/>
                      </a:solidFill>
                      <a:prstDash val="solid"/>
                    </a:lnR>
                    <a:lnT w="9525">
                      <a:solidFill>
                        <a:srgbClr val="D6DEE4"/>
                      </a:solidFill>
                      <a:prstDash val="solid"/>
                    </a:lnT>
                    <a:lnB w="9525">
                      <a:solidFill>
                        <a:srgbClr val="D6DEE4"/>
                      </a:solidFill>
                      <a:prstDash val="solid"/>
                    </a:lnB>
                    <a:solidFill>
                      <a:srgbClr val="192C3B"/>
                    </a:solidFill>
                  </a:tcPr>
                </a:tc>
                <a:tc>
                  <a:txBody>
                    <a:bodyPr lIns="133350" tIns="133350" rIns="133350" bIns="133350"/>
                    <a:lstStyle/>
                    <a:p>
                      <a:r>
                        <a:rPr sz="2025" b="1">
                          <a:solidFill>
                            <a:srgbClr val="FFFFFF"/>
                          </a:solidFill>
                          <a:latin typeface="DejaVu Sans"/>
                          <a:ea typeface="DejaVu Sans"/>
                          <a:cs typeface="DejaVu Sans"/>
                        </a:rPr>
                        <a:t>Red</a:t>
                      </a:r>
                    </a:p>
                  </a:txBody>
                  <a:tcPr marL="190500" marR="171450" marT="133350" marB="133350" anchor="ctr">
                    <a:lnR w="9525">
                      <a:solidFill>
                        <a:srgbClr val="D6DEE4"/>
                      </a:solidFill>
                      <a:prstDash val="solid"/>
                    </a:lnR>
                    <a:lnT w="9525">
                      <a:solidFill>
                        <a:srgbClr val="D6DEE4"/>
                      </a:solidFill>
                      <a:prstDash val="solid"/>
                    </a:lnT>
                    <a:lnB w="9525">
                      <a:solidFill>
                        <a:srgbClr val="D6DEE4"/>
                      </a:solidFill>
                      <a:prstDash val="solid"/>
                    </a:lnB>
                    <a:solidFill>
                      <a:srgbClr val="192C3B"/>
                    </a:solidFill>
                  </a:tcPr>
                </a:tc>
                <a:tc>
                  <a:txBody>
                    <a:bodyPr lIns="133350" tIns="133350" rIns="133350" bIns="133350"/>
                    <a:lstStyle/>
                    <a:p>
                      <a:r>
                        <a:rPr sz="2025" b="1">
                          <a:solidFill>
                            <a:srgbClr val="FFFFFF"/>
                          </a:solidFill>
                          <a:latin typeface="DejaVu Sans"/>
                          <a:ea typeface="DejaVu Sans"/>
                          <a:cs typeface="DejaVu Sans"/>
                        </a:rPr>
                        <a:t>Green</a:t>
                      </a:r>
                    </a:p>
                  </a:txBody>
                  <a:tcPr marL="190500" marR="171450" marT="133350" marB="133350" anchor="ctr">
                    <a:lnR w="9525">
                      <a:solidFill>
                        <a:srgbClr val="D6DEE4"/>
                      </a:solidFill>
                      <a:prstDash val="solid"/>
                    </a:lnR>
                    <a:lnT w="9525">
                      <a:solidFill>
                        <a:srgbClr val="D6DEE4"/>
                      </a:solidFill>
                      <a:prstDash val="solid"/>
                    </a:lnT>
                    <a:lnB w="9525">
                      <a:solidFill>
                        <a:srgbClr val="D6DEE4"/>
                      </a:solidFill>
                      <a:prstDash val="solid"/>
                    </a:lnB>
                    <a:solidFill>
                      <a:srgbClr val="192C3B"/>
                    </a:solidFill>
                  </a:tcPr>
                </a:tc>
                <a:tc>
                  <a:txBody>
                    <a:bodyPr lIns="133350" tIns="133350" rIns="133350" bIns="133350"/>
                    <a:lstStyle/>
                    <a:p>
                      <a:r>
                        <a:rPr sz="2025" b="1">
                          <a:solidFill>
                            <a:srgbClr val="FFFFFF"/>
                          </a:solidFill>
                          <a:latin typeface="DejaVu Sans"/>
                          <a:ea typeface="DejaVu Sans"/>
                          <a:cs typeface="DejaVu Sans"/>
                        </a:rPr>
                        <a:t>Blue</a:t>
                      </a:r>
                    </a:p>
                  </a:txBody>
                  <a:tcPr marL="190500" marR="171450" marT="133350" marB="133350" anchor="ctr">
                    <a:lnR w="9525">
                      <a:solidFill>
                        <a:srgbClr val="D6DEE4"/>
                      </a:solidFill>
                      <a:prstDash val="solid"/>
                    </a:lnR>
                    <a:lnT w="9525">
                      <a:solidFill>
                        <a:srgbClr val="D6DEE4"/>
                      </a:solidFill>
                      <a:prstDash val="solid"/>
                    </a:lnT>
                    <a:lnB w="9525">
                      <a:solidFill>
                        <a:srgbClr val="D6DEE4"/>
                      </a:solidFill>
                      <a:prstDash val="solid"/>
                    </a:lnB>
                    <a:solidFill>
                      <a:srgbClr val="192C3B"/>
                    </a:solidFill>
                  </a:tcPr>
                </a:tc>
              </a:tr>
              <a:tr h="666750">
                <a:tc>
                  <a:txBody>
                    <a:bodyPr lIns="133350" tIns="133350" rIns="133350" bIns="133350"/>
                    <a:lstStyle/>
                    <a:p>
                      <a:r>
                        <a:rPr sz="2025" b="0">
                          <a:solidFill>
                            <a:srgbClr val="192C3B"/>
                          </a:solidFill>
                          <a:latin typeface="DejaVu Sans"/>
                          <a:ea typeface="DejaVu Sans"/>
                          <a:cs typeface="DejaVu Sans"/>
                        </a:rPr>
                        <a:t>Red color</a:t>
                      </a:r>
                    </a:p>
                  </a:txBody>
                  <a:tcPr marL="190500" marR="171450" marT="133350" marB="133350" anchor="ctr">
                    <a:lnL w="9525">
                      <a:solidFill>
                        <a:srgbClr val="D6DEE4"/>
                      </a:solidFill>
                      <a:prstDash val="solid"/>
                    </a:lnL>
                    <a:lnR w="9525">
                      <a:solidFill>
                        <a:srgbClr val="D6DEE4"/>
                      </a:solidFill>
                      <a:prstDash val="solid"/>
                    </a:lnR>
                    <a:lnB w="9525">
                      <a:solidFill>
                        <a:srgbClr val="D6DEE4"/>
                      </a:solidFill>
                      <a:prstDash val="solid"/>
                    </a:lnB>
                    <a:solidFill>
                      <a:srgbClr val="FFFFFF"/>
                    </a:solidFill>
                  </a:tcPr>
                </a:tc>
                <a:tc>
                  <a:txBody>
                    <a:bodyPr lIns="133350" tIns="133350" rIns="133350" bIns="133350"/>
                    <a:lstStyle/>
                    <a:p>
                      <a:r>
                        <a:rPr sz="2025" b="0">
                          <a:solidFill>
                            <a:srgbClr val="192C3B"/>
                          </a:solidFill>
                          <a:latin typeface="DejaVu Sans"/>
                          <a:ea typeface="DejaVu Sans"/>
                          <a:cs typeface="DejaVu Sans"/>
                        </a:rPr>
                        <a:t>1.0</a:t>
                      </a:r>
                    </a:p>
                  </a:txBody>
                  <a:tcPr marL="190500" marR="171450" marT="133350" marB="133350" anchor="ctr">
                    <a:lnR w="9525">
                      <a:solidFill>
                        <a:srgbClr val="D6DEE4"/>
                      </a:solidFill>
                      <a:prstDash val="solid"/>
                    </a:lnR>
                    <a:lnB w="9525">
                      <a:solidFill>
                        <a:srgbClr val="D6DEE4"/>
                      </a:solidFill>
                      <a:prstDash val="solid"/>
                    </a:lnB>
                    <a:solidFill>
                      <a:srgbClr val="FFFFFF"/>
                    </a:solidFill>
                  </a:tcPr>
                </a:tc>
                <a:tc>
                  <a:txBody>
                    <a:bodyPr lIns="133350" tIns="133350" rIns="133350" bIns="133350"/>
                    <a:lstStyle/>
                    <a:p>
                      <a:r>
                        <a:rPr sz="2025" b="0">
                          <a:solidFill>
                            <a:srgbClr val="192C3B"/>
                          </a:solidFill>
                          <a:latin typeface="DejaVu Sans"/>
                          <a:ea typeface="DejaVu Sans"/>
                          <a:cs typeface="DejaVu Sans"/>
                        </a:rPr>
                        <a:t>0.0</a:t>
                      </a:r>
                    </a:p>
                  </a:txBody>
                  <a:tcPr marL="190500" marR="171450" marT="133350" marB="133350" anchor="ctr">
                    <a:lnR w="9525">
                      <a:solidFill>
                        <a:srgbClr val="D6DEE4"/>
                      </a:solidFill>
                      <a:prstDash val="solid"/>
                    </a:lnR>
                    <a:lnB w="9525">
                      <a:solidFill>
                        <a:srgbClr val="D6DEE4"/>
                      </a:solidFill>
                      <a:prstDash val="solid"/>
                    </a:lnB>
                    <a:solidFill>
                      <a:srgbClr val="FFFFFF"/>
                    </a:solidFill>
                  </a:tcPr>
                </a:tc>
                <a:tc>
                  <a:txBody>
                    <a:bodyPr lIns="133350" tIns="133350" rIns="133350" bIns="133350"/>
                    <a:lstStyle/>
                    <a:p>
                      <a:r>
                        <a:rPr sz="2025" b="0">
                          <a:solidFill>
                            <a:srgbClr val="192C3B"/>
                          </a:solidFill>
                          <a:latin typeface="DejaVu Sans"/>
                          <a:ea typeface="DejaVu Sans"/>
                          <a:cs typeface="DejaVu Sans"/>
                        </a:rPr>
                        <a:t>0.0</a:t>
                      </a:r>
                    </a:p>
                  </a:txBody>
                  <a:tcPr marL="190500" marR="171450" marT="133350" marB="133350" anchor="ctr">
                    <a:lnR w="9525">
                      <a:solidFill>
                        <a:srgbClr val="D6DEE4"/>
                      </a:solidFill>
                      <a:prstDash val="solid"/>
                    </a:lnR>
                    <a:lnB w="9525">
                      <a:solidFill>
                        <a:srgbClr val="D6DEE4"/>
                      </a:solidFill>
                      <a:prstDash val="solid"/>
                    </a:lnB>
                    <a:solidFill>
                      <a:srgbClr val="FFFFFF"/>
                    </a:solidFill>
                  </a:tcPr>
                </a:tc>
              </a:tr>
              <a:tr h="666750">
                <a:tc>
                  <a:txBody>
                    <a:bodyPr lIns="133350" tIns="133350" rIns="133350" bIns="133350"/>
                    <a:lstStyle/>
                    <a:p>
                      <a:r>
                        <a:rPr sz="2025" b="0">
                          <a:solidFill>
                            <a:srgbClr val="192C3B"/>
                          </a:solidFill>
                          <a:latin typeface="DejaVu Sans"/>
                          <a:ea typeface="DejaVu Sans"/>
                          <a:cs typeface="DejaVu Sans"/>
                        </a:rPr>
                        <a:t>Green color</a:t>
                      </a:r>
                    </a:p>
                  </a:txBody>
                  <a:tcPr marL="190500" marR="171450" marT="133350" marB="133350" anchor="ctr">
                    <a:lnL w="9525">
                      <a:solidFill>
                        <a:srgbClr val="D6DEE4"/>
                      </a:solidFill>
                      <a:prstDash val="solid"/>
                    </a:lnL>
                    <a:lnR w="9525">
                      <a:solidFill>
                        <a:srgbClr val="D6DEE4"/>
                      </a:solidFill>
                      <a:prstDash val="solid"/>
                    </a:lnR>
                    <a:lnB w="9525">
                      <a:solidFill>
                        <a:srgbClr val="D6DEE4"/>
                      </a:solidFill>
                      <a:prstDash val="solid"/>
                    </a:lnB>
                    <a:solidFill>
                      <a:srgbClr val="F2F4F7"/>
                    </a:solidFill>
                  </a:tcPr>
                </a:tc>
                <a:tc>
                  <a:txBody>
                    <a:bodyPr lIns="133350" tIns="133350" rIns="133350" bIns="133350"/>
                    <a:lstStyle/>
                    <a:p>
                      <a:r>
                        <a:rPr sz="2025" b="0">
                          <a:solidFill>
                            <a:srgbClr val="192C3B"/>
                          </a:solidFill>
                          <a:latin typeface="DejaVu Sans"/>
                          <a:ea typeface="DejaVu Sans"/>
                          <a:cs typeface="DejaVu Sans"/>
                        </a:rPr>
                        <a:t>0.0</a:t>
                      </a:r>
                    </a:p>
                  </a:txBody>
                  <a:tcPr marL="190500" marR="171450" marT="133350" marB="133350" anchor="ctr">
                    <a:lnR w="9525">
                      <a:solidFill>
                        <a:srgbClr val="D6DEE4"/>
                      </a:solidFill>
                      <a:prstDash val="solid"/>
                    </a:lnR>
                    <a:lnB w="9525">
                      <a:solidFill>
                        <a:srgbClr val="D6DEE4"/>
                      </a:solidFill>
                      <a:prstDash val="solid"/>
                    </a:lnB>
                    <a:solidFill>
                      <a:srgbClr val="F2F4F7"/>
                    </a:solidFill>
                  </a:tcPr>
                </a:tc>
                <a:tc>
                  <a:txBody>
                    <a:bodyPr lIns="133350" tIns="133350" rIns="133350" bIns="133350"/>
                    <a:lstStyle/>
                    <a:p>
                      <a:r>
                        <a:rPr sz="2025" b="0">
                          <a:solidFill>
                            <a:srgbClr val="192C3B"/>
                          </a:solidFill>
                          <a:latin typeface="DejaVu Sans"/>
                          <a:ea typeface="DejaVu Sans"/>
                          <a:cs typeface="DejaVu Sans"/>
                        </a:rPr>
                        <a:t>1.0</a:t>
                      </a:r>
                    </a:p>
                  </a:txBody>
                  <a:tcPr marL="190500" marR="171450" marT="133350" marB="133350" anchor="ctr">
                    <a:lnR w="9525">
                      <a:solidFill>
                        <a:srgbClr val="D6DEE4"/>
                      </a:solidFill>
                      <a:prstDash val="solid"/>
                    </a:lnR>
                    <a:lnB w="9525">
                      <a:solidFill>
                        <a:srgbClr val="D6DEE4"/>
                      </a:solidFill>
                      <a:prstDash val="solid"/>
                    </a:lnB>
                    <a:solidFill>
                      <a:srgbClr val="F2F4F7"/>
                    </a:solidFill>
                  </a:tcPr>
                </a:tc>
                <a:tc>
                  <a:txBody>
                    <a:bodyPr lIns="133350" tIns="133350" rIns="133350" bIns="133350"/>
                    <a:lstStyle/>
                    <a:p>
                      <a:r>
                        <a:rPr sz="2025" b="0">
                          <a:solidFill>
                            <a:srgbClr val="192C3B"/>
                          </a:solidFill>
                          <a:latin typeface="DejaVu Sans"/>
                          <a:ea typeface="DejaVu Sans"/>
                          <a:cs typeface="DejaVu Sans"/>
                        </a:rPr>
                        <a:t>0.0</a:t>
                      </a:r>
                    </a:p>
                  </a:txBody>
                  <a:tcPr marL="190500" marR="171450" marT="133350" marB="133350" anchor="ctr">
                    <a:lnR w="9525">
                      <a:solidFill>
                        <a:srgbClr val="D6DEE4"/>
                      </a:solidFill>
                      <a:prstDash val="solid"/>
                    </a:lnR>
                    <a:lnB w="9525">
                      <a:solidFill>
                        <a:srgbClr val="D6DEE4"/>
                      </a:solidFill>
                      <a:prstDash val="solid"/>
                    </a:lnB>
                    <a:solidFill>
                      <a:srgbClr val="F2F4F7"/>
                    </a:solidFill>
                  </a:tcPr>
                </a:tc>
              </a:tr>
              <a:tr h="666750">
                <a:tc>
                  <a:txBody>
                    <a:bodyPr lIns="133350" tIns="133350" rIns="133350" bIns="133350"/>
                    <a:lstStyle/>
                    <a:p>
                      <a:r>
                        <a:rPr sz="2025" b="0">
                          <a:solidFill>
                            <a:srgbClr val="192C3B"/>
                          </a:solidFill>
                          <a:latin typeface="DejaVu Sans"/>
                          <a:ea typeface="DejaVu Sans"/>
                          <a:cs typeface="DejaVu Sans"/>
                        </a:rPr>
                        <a:t>Purple color</a:t>
                      </a:r>
                    </a:p>
                  </a:txBody>
                  <a:tcPr marL="190500" marR="171450" marT="133350" marB="133350" anchor="ctr">
                    <a:lnL w="9525">
                      <a:solidFill>
                        <a:srgbClr val="D6DEE4"/>
                      </a:solidFill>
                      <a:prstDash val="solid"/>
                    </a:lnL>
                    <a:lnR w="9525">
                      <a:solidFill>
                        <a:srgbClr val="D6DEE4"/>
                      </a:solidFill>
                      <a:prstDash val="solid"/>
                    </a:lnR>
                    <a:lnB w="9525">
                      <a:solidFill>
                        <a:srgbClr val="D6DEE4"/>
                      </a:solidFill>
                      <a:prstDash val="solid"/>
                    </a:lnB>
                    <a:solidFill>
                      <a:srgbClr val="FFFFFF"/>
                    </a:solidFill>
                  </a:tcPr>
                </a:tc>
                <a:tc>
                  <a:txBody>
                    <a:bodyPr lIns="133350" tIns="133350" rIns="133350" bIns="133350"/>
                    <a:lstStyle/>
                    <a:p>
                      <a:r>
                        <a:rPr sz="2025" b="0">
                          <a:solidFill>
                            <a:srgbClr val="192C3B"/>
                          </a:solidFill>
                          <a:latin typeface="DejaVu Sans"/>
                          <a:ea typeface="DejaVu Sans"/>
                          <a:cs typeface="DejaVu Sans"/>
                        </a:rPr>
                        <a:t>0.6</a:t>
                      </a:r>
                    </a:p>
                  </a:txBody>
                  <a:tcPr marL="190500" marR="171450" marT="133350" marB="133350" anchor="ctr">
                    <a:lnR w="9525">
                      <a:solidFill>
                        <a:srgbClr val="D6DEE4"/>
                      </a:solidFill>
                      <a:prstDash val="solid"/>
                    </a:lnR>
                    <a:lnB w="9525">
                      <a:solidFill>
                        <a:srgbClr val="D6DEE4"/>
                      </a:solidFill>
                      <a:prstDash val="solid"/>
                    </a:lnB>
                    <a:solidFill>
                      <a:srgbClr val="FFFFFF"/>
                    </a:solidFill>
                  </a:tcPr>
                </a:tc>
                <a:tc>
                  <a:txBody>
                    <a:bodyPr lIns="133350" tIns="133350" rIns="133350" bIns="133350"/>
                    <a:lstStyle/>
                    <a:p>
                      <a:r>
                        <a:rPr sz="2025" b="0">
                          <a:solidFill>
                            <a:srgbClr val="192C3B"/>
                          </a:solidFill>
                          <a:latin typeface="DejaVu Sans"/>
                          <a:ea typeface="DejaVu Sans"/>
                          <a:cs typeface="DejaVu Sans"/>
                        </a:rPr>
                        <a:t>0.1</a:t>
                      </a:r>
                    </a:p>
                  </a:txBody>
                  <a:tcPr marL="190500" marR="171450" marT="133350" marB="133350" anchor="ctr">
                    <a:lnR w="9525">
                      <a:solidFill>
                        <a:srgbClr val="D6DEE4"/>
                      </a:solidFill>
                      <a:prstDash val="solid"/>
                    </a:lnR>
                    <a:lnB w="9525">
                      <a:solidFill>
                        <a:srgbClr val="D6DEE4"/>
                      </a:solidFill>
                      <a:prstDash val="solid"/>
                    </a:lnB>
                    <a:solidFill>
                      <a:srgbClr val="FFFFFF"/>
                    </a:solidFill>
                  </a:tcPr>
                </a:tc>
                <a:tc>
                  <a:txBody>
                    <a:bodyPr lIns="133350" tIns="133350" rIns="133350" bIns="133350"/>
                    <a:lstStyle/>
                    <a:p>
                      <a:r>
                        <a:rPr sz="2025" b="0">
                          <a:solidFill>
                            <a:srgbClr val="192C3B"/>
                          </a:solidFill>
                          <a:latin typeface="DejaVu Sans"/>
                          <a:ea typeface="DejaVu Sans"/>
                          <a:cs typeface="DejaVu Sans"/>
                        </a:rPr>
                        <a:t>0.8</a:t>
                      </a:r>
                    </a:p>
                  </a:txBody>
                  <a:tcPr marL="190500" marR="171450" marT="133350" marB="133350" anchor="ctr">
                    <a:lnR w="9525">
                      <a:solidFill>
                        <a:srgbClr val="D6DEE4"/>
                      </a:solidFill>
                      <a:prstDash val="solid"/>
                    </a:lnR>
                    <a:lnB w="9525">
                      <a:solidFill>
                        <a:srgbClr val="D6DEE4"/>
                      </a:solidFill>
                      <a:prstDash val="solid"/>
                    </a:lnB>
                    <a:solidFill>
                      <a:srgbClr val="FFFFFF"/>
                    </a:solidFill>
                  </a:tcPr>
                </a:tc>
              </a:tr>
            </a:tbl>
          </a:graphicData>
        </a:graphic>
      </p:graphicFrame>
      <p:sp>
        <p:nvSpPr>
          <p:cNvPr id="5" name="data-size">
            <a:extLst xmlns:a="http://schemas.openxmlformats.org/drawingml/2006/main">
              <a:ext uri="{FF2B5EF4-FFF2-40B4-BE49-F238E27FC236}">
                <a16:creationId xmlns:a16="http://schemas.microsoft.com/office/drawing/2014/main" id="{FF1644D7-83DD-4F16-BA4C-BD5F1AB5F19B}"/>
              </a:ext>
            </a:extLst>
          </p:cNvPr>
          <p:cNvSpPr>
            <a:spLocks xmlns:a="http://schemas.openxmlformats.org/drawingml/2006/main" noGrp="1"/>
          </p:cNvSpPr>
          <p:nvPr/>
        </p:nvSpPr>
        <p:spPr>
          <a:xfrm xmlns:a="http://schemas.openxmlformats.org/drawingml/2006/main">
            <a:off x="685800" y="55054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87F80"/>
                </a:solidFill>
                <a:latin typeface="DejaVu Sans"/>
                <a:ea typeface="DejaVu Sans"/>
                <a:cs typeface="DejaVu Sans"/>
              </a:defRPr>
            </a:defPPr>
            <a:lvl1pPr>
              <a:defRPr sz="2175" b="1">
                <a:solidFill>
                  <a:srgbClr val="087F80"/>
                </a:solidFill>
                <a:latin typeface="DejaVu Sans"/>
                <a:ea typeface="DejaVu Sans"/>
                <a:cs typeface="DejaVu Sans"/>
              </a:defRPr>
            </a:lvl1pPr>
            <a:lvl2pPr>
              <a:defRPr sz="2175" b="1">
                <a:solidFill>
                  <a:srgbClr val="087F80"/>
                </a:solidFill>
                <a:latin typeface="DejaVu Sans"/>
                <a:ea typeface="DejaVu Sans"/>
                <a:cs typeface="DejaVu Sans"/>
              </a:defRPr>
            </a:lvl2pPr>
            <a:lvl3pPr>
              <a:defRPr sz="2175" b="1">
                <a:solidFill>
                  <a:srgbClr val="087F80"/>
                </a:solidFill>
                <a:latin typeface="DejaVu Sans"/>
                <a:ea typeface="DejaVu Sans"/>
                <a:cs typeface="DejaVu Sans"/>
              </a:defRPr>
            </a:lvl3pPr>
            <a:lvl4pPr>
              <a:defRPr sz="2175" b="1">
                <a:solidFill>
                  <a:srgbClr val="087F80"/>
                </a:solidFill>
                <a:latin typeface="DejaVu Sans"/>
                <a:ea typeface="DejaVu Sans"/>
                <a:cs typeface="DejaVu Sans"/>
              </a:defRPr>
            </a:lvl4pPr>
            <a:lvl5pPr>
              <a:defRPr sz="2175" b="1">
                <a:solidFill>
                  <a:srgbClr val="087F80"/>
                </a:solidFill>
                <a:latin typeface="DejaVu Sans"/>
                <a:ea typeface="DejaVu Sans"/>
                <a:cs typeface="DejaVu Sans"/>
              </a:defRPr>
            </a:lvl5pPr>
            <a:lvl6pPr>
              <a:defRPr sz="2175" b="1">
                <a:solidFill>
                  <a:srgbClr val="087F80"/>
                </a:solidFill>
                <a:latin typeface="DejaVu Sans"/>
                <a:ea typeface="DejaVu Sans"/>
                <a:cs typeface="DejaVu Sans"/>
              </a:defRPr>
            </a:lvl6pPr>
            <a:lvl7pPr>
              <a:defRPr sz="2175" b="1">
                <a:solidFill>
                  <a:srgbClr val="087F80"/>
                </a:solidFill>
                <a:latin typeface="DejaVu Sans"/>
                <a:ea typeface="DejaVu Sans"/>
                <a:cs typeface="DejaVu Sans"/>
              </a:defRPr>
            </a:lvl7pPr>
            <a:lvl8pPr>
              <a:defRPr sz="2175" b="1">
                <a:solidFill>
                  <a:srgbClr val="087F80"/>
                </a:solidFill>
                <a:latin typeface="DejaVu Sans"/>
                <a:ea typeface="DejaVu Sans"/>
                <a:cs typeface="DejaVu Sans"/>
              </a:defRPr>
            </a:lvl8pPr>
            <a:lvl9pPr>
              <a:defRPr sz="2175" b="1">
                <a:solidFill>
                  <a:srgbClr val="087F80"/>
                </a:solidFill>
                <a:latin typeface="DejaVu Sans"/>
                <a:ea typeface="DejaVu Sans"/>
                <a:cs typeface="DejaVu Sans"/>
              </a:defRPr>
            </a:lvl9pPr>
          </a:lstStyle>
          <a:p xmlns:a="http://schemas.openxmlformats.org/drawingml/2006/main">
            <a:pPr>
              <a:lnSpc>
                <a:spcPct val="112000"/>
              </a:lnSpc>
              <a:buNone/>
              <a:defRPr sz="2175" b="1">
                <a:solidFill>
                  <a:srgbClr val="087F80"/>
                </a:solidFill>
                <a:latin typeface="DejaVu Sans"/>
                <a:ea typeface="DejaVu Sans"/>
                <a:cs typeface="DejaVu Sans"/>
              </a:defRPr>
            </a:pPr>
            <a:r>
              <a:rPr sz="2175" b="1">
                <a:solidFill>
                  <a:srgbClr val="087F80"/>
                </a:solidFill>
                <a:latin typeface="DejaVu Sans"/>
                <a:ea typeface="DejaVu Sans"/>
                <a:cs typeface="DejaVu Sans"/>
              </a:rPr>
              <a:t>Demo dataset: 1,000 generated colors, with no class labels</a:t>
            </a:r>
          </a:p>
        </p:txBody>
      </p:sp>
    </p:spTree>
    <p:extLst>
      <p:ext uri="{BB962C8B-B14F-4D97-AF65-F5344CB8AC3E}">
        <p14:creationId xmlns:p14="http://schemas.microsoft.com/office/powerpoint/2010/main" val="20515992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7068F6B-1F7A-4A85-AE03-54D97C8E04D0}"/>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How a Self-Organizing Map learns</a:t>
            </a:r>
          </a:p>
        </p:txBody>
      </p:sp>
      <p:sp>
        <p:nvSpPr>
          <p:cNvPr id="2" name="slide-number">
            <a:extLst xmlns:a="http://schemas.openxmlformats.org/drawingml/2006/main">
              <a:ext uri="{FF2B5EF4-FFF2-40B4-BE49-F238E27FC236}">
                <a16:creationId xmlns:a16="http://schemas.microsoft.com/office/drawing/2014/main" id="{75AAD18C-AB52-46D1-87EA-6BE2142C250A}"/>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04</a:t>
            </a:r>
          </a:p>
        </p:txBody>
      </p:sp>
      <p:sp>
        <p:nvSpPr>
          <p:cNvPr id="3" name="step-number-0">
            <a:extLst xmlns:a="http://schemas.openxmlformats.org/drawingml/2006/main">
              <a:ext uri="{FF2B5EF4-FFF2-40B4-BE49-F238E27FC236}">
                <a16:creationId xmlns:a16="http://schemas.microsoft.com/office/drawing/2014/main" id="{5B584F2F-F5FE-4BAD-83C3-CF9B03B84285}"/>
              </a:ext>
            </a:extLst>
          </p:cNvPr>
          <p:cNvSpPr>
            <a:spLocks xmlns:a="http://schemas.openxmlformats.org/drawingml/2006/main" noGrp="1"/>
          </p:cNvSpPr>
          <p:nvPr/>
        </p:nvSpPr>
        <p:spPr>
          <a:xfrm xmlns:a="http://schemas.openxmlformats.org/drawingml/2006/main">
            <a:off x="685800" y="1562100"/>
            <a:ext cx="809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5D3FA8"/>
                </a:solidFill>
                <a:latin typeface="DejaVu Sans"/>
                <a:ea typeface="DejaVu Sans"/>
                <a:cs typeface="DejaVu Sans"/>
              </a:defRPr>
            </a:defPPr>
            <a:lvl1pPr>
              <a:defRPr sz="3225" b="1">
                <a:solidFill>
                  <a:srgbClr val="5D3FA8"/>
                </a:solidFill>
                <a:latin typeface="DejaVu Sans"/>
                <a:ea typeface="DejaVu Sans"/>
                <a:cs typeface="DejaVu Sans"/>
              </a:defRPr>
            </a:lvl1pPr>
            <a:lvl2pPr>
              <a:defRPr sz="3225" b="1">
                <a:solidFill>
                  <a:srgbClr val="5D3FA8"/>
                </a:solidFill>
                <a:latin typeface="DejaVu Sans"/>
                <a:ea typeface="DejaVu Sans"/>
                <a:cs typeface="DejaVu Sans"/>
              </a:defRPr>
            </a:lvl2pPr>
            <a:lvl3pPr>
              <a:defRPr sz="3225" b="1">
                <a:solidFill>
                  <a:srgbClr val="5D3FA8"/>
                </a:solidFill>
                <a:latin typeface="DejaVu Sans"/>
                <a:ea typeface="DejaVu Sans"/>
                <a:cs typeface="DejaVu Sans"/>
              </a:defRPr>
            </a:lvl3pPr>
            <a:lvl4pPr>
              <a:defRPr sz="3225" b="1">
                <a:solidFill>
                  <a:srgbClr val="5D3FA8"/>
                </a:solidFill>
                <a:latin typeface="DejaVu Sans"/>
                <a:ea typeface="DejaVu Sans"/>
                <a:cs typeface="DejaVu Sans"/>
              </a:defRPr>
            </a:lvl4pPr>
            <a:lvl5pPr>
              <a:defRPr sz="3225" b="1">
                <a:solidFill>
                  <a:srgbClr val="5D3FA8"/>
                </a:solidFill>
                <a:latin typeface="DejaVu Sans"/>
                <a:ea typeface="DejaVu Sans"/>
                <a:cs typeface="DejaVu Sans"/>
              </a:defRPr>
            </a:lvl5pPr>
            <a:lvl6pPr>
              <a:defRPr sz="3225" b="1">
                <a:solidFill>
                  <a:srgbClr val="5D3FA8"/>
                </a:solidFill>
                <a:latin typeface="DejaVu Sans"/>
                <a:ea typeface="DejaVu Sans"/>
                <a:cs typeface="DejaVu Sans"/>
              </a:defRPr>
            </a:lvl6pPr>
            <a:lvl7pPr>
              <a:defRPr sz="3225" b="1">
                <a:solidFill>
                  <a:srgbClr val="5D3FA8"/>
                </a:solidFill>
                <a:latin typeface="DejaVu Sans"/>
                <a:ea typeface="DejaVu Sans"/>
                <a:cs typeface="DejaVu Sans"/>
              </a:defRPr>
            </a:lvl7pPr>
            <a:lvl8pPr>
              <a:defRPr sz="3225" b="1">
                <a:solidFill>
                  <a:srgbClr val="5D3FA8"/>
                </a:solidFill>
                <a:latin typeface="DejaVu Sans"/>
                <a:ea typeface="DejaVu Sans"/>
                <a:cs typeface="DejaVu Sans"/>
              </a:defRPr>
            </a:lvl8pPr>
            <a:lvl9pPr>
              <a:defRPr sz="3225" b="1">
                <a:solidFill>
                  <a:srgbClr val="5D3FA8"/>
                </a:solidFill>
                <a:latin typeface="DejaVu Sans"/>
                <a:ea typeface="DejaVu Sans"/>
                <a:cs typeface="DejaVu Sans"/>
              </a:defRPr>
            </a:lvl9pPr>
          </a:lstStyle>
          <a:p xmlns:a="http://schemas.openxmlformats.org/drawingml/2006/main">
            <a:pPr>
              <a:lnSpc>
                <a:spcPct val="112000"/>
              </a:lnSpc>
              <a:buNone/>
              <a:defRPr sz="3225" b="1">
                <a:solidFill>
                  <a:srgbClr val="5D3FA8"/>
                </a:solidFill>
                <a:latin typeface="DejaVu Sans"/>
                <a:ea typeface="DejaVu Sans"/>
                <a:cs typeface="DejaVu Sans"/>
              </a:defRPr>
            </a:pPr>
            <a:r>
              <a:rPr sz="3225" b="1">
                <a:solidFill>
                  <a:srgbClr val="5D3FA8"/>
                </a:solidFill>
                <a:latin typeface="DejaVu Sans"/>
                <a:ea typeface="DejaVu Sans"/>
                <a:cs typeface="DejaVu Sans"/>
              </a:rPr>
              <a:t>01</a:t>
            </a:r>
          </a:p>
        </p:txBody>
      </p:sp>
      <p:sp>
        <p:nvSpPr>
          <p:cNvPr id="4" name="step-title-0">
            <a:extLst xmlns:a="http://schemas.openxmlformats.org/drawingml/2006/main">
              <a:ext uri="{FF2B5EF4-FFF2-40B4-BE49-F238E27FC236}">
                <a16:creationId xmlns:a16="http://schemas.microsoft.com/office/drawing/2014/main" id="{7E7130EA-AB7E-4BE0-AA3A-0F5965D28E74}"/>
              </a:ext>
            </a:extLst>
          </p:cNvPr>
          <p:cNvSpPr>
            <a:spLocks xmlns:a="http://schemas.openxmlformats.org/drawingml/2006/main" noGrp="1"/>
          </p:cNvSpPr>
          <p:nvPr/>
        </p:nvSpPr>
        <p:spPr>
          <a:xfrm xmlns:a="http://schemas.openxmlformats.org/drawingml/2006/main">
            <a:off x="1885950" y="1562100"/>
            <a:ext cx="9620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92C3B"/>
                </a:solidFill>
                <a:latin typeface="DejaVu Sans"/>
                <a:ea typeface="DejaVu Sans"/>
                <a:cs typeface="DejaVu Sans"/>
              </a:defRPr>
            </a:defPPr>
            <a:lvl1pPr>
              <a:defRPr sz="2400" b="1">
                <a:solidFill>
                  <a:srgbClr val="192C3B"/>
                </a:solidFill>
                <a:latin typeface="DejaVu Sans"/>
                <a:ea typeface="DejaVu Sans"/>
                <a:cs typeface="DejaVu Sans"/>
              </a:defRPr>
            </a:lvl1pPr>
            <a:lvl2pPr>
              <a:defRPr sz="2400" b="1">
                <a:solidFill>
                  <a:srgbClr val="192C3B"/>
                </a:solidFill>
                <a:latin typeface="DejaVu Sans"/>
                <a:ea typeface="DejaVu Sans"/>
                <a:cs typeface="DejaVu Sans"/>
              </a:defRPr>
            </a:lvl2pPr>
            <a:lvl3pPr>
              <a:defRPr sz="2400" b="1">
                <a:solidFill>
                  <a:srgbClr val="192C3B"/>
                </a:solidFill>
                <a:latin typeface="DejaVu Sans"/>
                <a:ea typeface="DejaVu Sans"/>
                <a:cs typeface="DejaVu Sans"/>
              </a:defRPr>
            </a:lvl3pPr>
            <a:lvl4pPr>
              <a:defRPr sz="2400" b="1">
                <a:solidFill>
                  <a:srgbClr val="192C3B"/>
                </a:solidFill>
                <a:latin typeface="DejaVu Sans"/>
                <a:ea typeface="DejaVu Sans"/>
                <a:cs typeface="DejaVu Sans"/>
              </a:defRPr>
            </a:lvl4pPr>
            <a:lvl5pPr>
              <a:defRPr sz="2400" b="1">
                <a:solidFill>
                  <a:srgbClr val="192C3B"/>
                </a:solidFill>
                <a:latin typeface="DejaVu Sans"/>
                <a:ea typeface="DejaVu Sans"/>
                <a:cs typeface="DejaVu Sans"/>
              </a:defRPr>
            </a:lvl5pPr>
            <a:lvl6pPr>
              <a:defRPr sz="2400" b="1">
                <a:solidFill>
                  <a:srgbClr val="192C3B"/>
                </a:solidFill>
                <a:latin typeface="DejaVu Sans"/>
                <a:ea typeface="DejaVu Sans"/>
                <a:cs typeface="DejaVu Sans"/>
              </a:defRPr>
            </a:lvl6pPr>
            <a:lvl7pPr>
              <a:defRPr sz="2400" b="1">
                <a:solidFill>
                  <a:srgbClr val="192C3B"/>
                </a:solidFill>
                <a:latin typeface="DejaVu Sans"/>
                <a:ea typeface="DejaVu Sans"/>
                <a:cs typeface="DejaVu Sans"/>
              </a:defRPr>
            </a:lvl7pPr>
            <a:lvl8pPr>
              <a:defRPr sz="2400" b="1">
                <a:solidFill>
                  <a:srgbClr val="192C3B"/>
                </a:solidFill>
                <a:latin typeface="DejaVu Sans"/>
                <a:ea typeface="DejaVu Sans"/>
                <a:cs typeface="DejaVu Sans"/>
              </a:defRPr>
            </a:lvl8pPr>
            <a:lvl9pPr>
              <a:defRPr sz="2400" b="1">
                <a:solidFill>
                  <a:srgbClr val="192C3B"/>
                </a:solidFill>
                <a:latin typeface="DejaVu Sans"/>
                <a:ea typeface="DejaVu Sans"/>
                <a:cs typeface="DejaVu Sans"/>
              </a:defRPr>
            </a:lvl9pPr>
          </a:lstStyle>
          <a:p xmlns:a="http://schemas.openxmlformats.org/drawingml/2006/main">
            <a:pPr>
              <a:lnSpc>
                <a:spcPct val="112000"/>
              </a:lnSpc>
              <a:buNone/>
              <a:defRPr sz="2400" b="1">
                <a:solidFill>
                  <a:srgbClr val="192C3B"/>
                </a:solidFill>
                <a:latin typeface="DejaVu Sans"/>
                <a:ea typeface="DejaVu Sans"/>
                <a:cs typeface="DejaVu Sans"/>
              </a:defRPr>
            </a:pPr>
            <a:r>
              <a:rPr sz="2400" b="1">
                <a:solidFill>
                  <a:srgbClr val="192C3B"/>
                </a:solidFill>
                <a:latin typeface="DejaVu Sans"/>
                <a:ea typeface="DejaVu Sans"/>
                <a:cs typeface="DejaVu Sans"/>
              </a:rPr>
              <a:t>Choose one input color</a:t>
            </a:r>
          </a:p>
        </p:txBody>
      </p:sp>
      <p:sp>
        <p:nvSpPr>
          <p:cNvPr id="5" name="step-body-0">
            <a:extLst xmlns:a="http://schemas.openxmlformats.org/drawingml/2006/main">
              <a:ext uri="{FF2B5EF4-FFF2-40B4-BE49-F238E27FC236}">
                <a16:creationId xmlns:a16="http://schemas.microsoft.com/office/drawing/2014/main" id="{E546962E-B5C2-4804-A6E7-F8D5326576AB}"/>
              </a:ext>
            </a:extLst>
          </p:cNvPr>
          <p:cNvSpPr>
            <a:spLocks xmlns:a="http://schemas.openxmlformats.org/drawingml/2006/main" noGrp="1"/>
          </p:cNvSpPr>
          <p:nvPr/>
        </p:nvSpPr>
        <p:spPr>
          <a:xfrm xmlns:a="http://schemas.openxmlformats.org/drawingml/2006/main">
            <a:off x="1885950" y="218122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516573"/>
                </a:solidFill>
                <a:latin typeface="DejaVu Sans"/>
                <a:ea typeface="DejaVu Sans"/>
                <a:cs typeface="DejaVu Sans"/>
              </a:defRPr>
            </a:defPPr>
            <a:lvl1pPr>
              <a:defRPr sz="2025" b="0">
                <a:solidFill>
                  <a:srgbClr val="516573"/>
                </a:solidFill>
                <a:latin typeface="DejaVu Sans"/>
                <a:ea typeface="DejaVu Sans"/>
                <a:cs typeface="DejaVu Sans"/>
              </a:defRPr>
            </a:lvl1pPr>
            <a:lvl2pPr>
              <a:defRPr sz="2025" b="0">
                <a:solidFill>
                  <a:srgbClr val="516573"/>
                </a:solidFill>
                <a:latin typeface="DejaVu Sans"/>
                <a:ea typeface="DejaVu Sans"/>
                <a:cs typeface="DejaVu Sans"/>
              </a:defRPr>
            </a:lvl2pPr>
            <a:lvl3pPr>
              <a:defRPr sz="2025" b="0">
                <a:solidFill>
                  <a:srgbClr val="516573"/>
                </a:solidFill>
                <a:latin typeface="DejaVu Sans"/>
                <a:ea typeface="DejaVu Sans"/>
                <a:cs typeface="DejaVu Sans"/>
              </a:defRPr>
            </a:lvl3pPr>
            <a:lvl4pPr>
              <a:defRPr sz="2025" b="0">
                <a:solidFill>
                  <a:srgbClr val="516573"/>
                </a:solidFill>
                <a:latin typeface="DejaVu Sans"/>
                <a:ea typeface="DejaVu Sans"/>
                <a:cs typeface="DejaVu Sans"/>
              </a:defRPr>
            </a:lvl4pPr>
            <a:lvl5pPr>
              <a:defRPr sz="2025" b="0">
                <a:solidFill>
                  <a:srgbClr val="516573"/>
                </a:solidFill>
                <a:latin typeface="DejaVu Sans"/>
                <a:ea typeface="DejaVu Sans"/>
                <a:cs typeface="DejaVu Sans"/>
              </a:defRPr>
            </a:lvl5pPr>
            <a:lvl6pPr>
              <a:defRPr sz="2025" b="0">
                <a:solidFill>
                  <a:srgbClr val="516573"/>
                </a:solidFill>
                <a:latin typeface="DejaVu Sans"/>
                <a:ea typeface="DejaVu Sans"/>
                <a:cs typeface="DejaVu Sans"/>
              </a:defRPr>
            </a:lvl6pPr>
            <a:lvl7pPr>
              <a:defRPr sz="2025" b="0">
                <a:solidFill>
                  <a:srgbClr val="516573"/>
                </a:solidFill>
                <a:latin typeface="DejaVu Sans"/>
                <a:ea typeface="DejaVu Sans"/>
                <a:cs typeface="DejaVu Sans"/>
              </a:defRPr>
            </a:lvl7pPr>
            <a:lvl8pPr>
              <a:defRPr sz="2025" b="0">
                <a:solidFill>
                  <a:srgbClr val="516573"/>
                </a:solidFill>
                <a:latin typeface="DejaVu Sans"/>
                <a:ea typeface="DejaVu Sans"/>
                <a:cs typeface="DejaVu Sans"/>
              </a:defRPr>
            </a:lvl8pPr>
            <a:lvl9pPr>
              <a:defRPr sz="2025" b="0">
                <a:solidFill>
                  <a:srgbClr val="516573"/>
                </a:solidFill>
                <a:latin typeface="DejaVu Sans"/>
                <a:ea typeface="DejaVu Sans"/>
                <a:cs typeface="DejaVu Sans"/>
              </a:defRPr>
            </a:lvl9pPr>
          </a:lstStyle>
          <a:p xmlns:a="http://schemas.openxmlformats.org/drawingml/2006/main">
            <a:pPr>
              <a:lnSpc>
                <a:spcPct val="112000"/>
              </a:lnSpc>
              <a:buNone/>
              <a:defRPr sz="2025" b="0">
                <a:solidFill>
                  <a:srgbClr val="516573"/>
                </a:solidFill>
                <a:latin typeface="DejaVu Sans"/>
                <a:ea typeface="DejaVu Sans"/>
                <a:cs typeface="DejaVu Sans"/>
              </a:defRPr>
            </a:pPr>
            <a:r>
              <a:rPr sz="2025" b="0">
                <a:solidFill>
                  <a:srgbClr val="516573"/>
                </a:solidFill>
                <a:latin typeface="DejaVu Sans"/>
                <a:ea typeface="DejaVu Sans"/>
                <a:cs typeface="DejaVu Sans"/>
              </a:rPr>
              <a:t>Read its three RGB values.</a:t>
            </a:r>
          </a:p>
        </p:txBody>
      </p:sp>
      <p:sp>
        <p:nvSpPr>
          <p:cNvPr id="6" name="step-number-1">
            <a:extLst xmlns:a="http://schemas.openxmlformats.org/drawingml/2006/main">
              <a:ext uri="{FF2B5EF4-FFF2-40B4-BE49-F238E27FC236}">
                <a16:creationId xmlns:a16="http://schemas.microsoft.com/office/drawing/2014/main" id="{EE074BB9-899C-4577-981F-E539316B86FA}"/>
              </a:ext>
            </a:extLst>
          </p:cNvPr>
          <p:cNvSpPr>
            <a:spLocks xmlns:a="http://schemas.openxmlformats.org/drawingml/2006/main" noGrp="1"/>
          </p:cNvSpPr>
          <p:nvPr/>
        </p:nvSpPr>
        <p:spPr>
          <a:xfrm xmlns:a="http://schemas.openxmlformats.org/drawingml/2006/main">
            <a:off x="685800" y="2971800"/>
            <a:ext cx="809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5D3FA8"/>
                </a:solidFill>
                <a:latin typeface="DejaVu Sans"/>
                <a:ea typeface="DejaVu Sans"/>
                <a:cs typeface="DejaVu Sans"/>
              </a:defRPr>
            </a:defPPr>
            <a:lvl1pPr>
              <a:defRPr sz="3225" b="1">
                <a:solidFill>
                  <a:srgbClr val="5D3FA8"/>
                </a:solidFill>
                <a:latin typeface="DejaVu Sans"/>
                <a:ea typeface="DejaVu Sans"/>
                <a:cs typeface="DejaVu Sans"/>
              </a:defRPr>
            </a:lvl1pPr>
            <a:lvl2pPr>
              <a:defRPr sz="3225" b="1">
                <a:solidFill>
                  <a:srgbClr val="5D3FA8"/>
                </a:solidFill>
                <a:latin typeface="DejaVu Sans"/>
                <a:ea typeface="DejaVu Sans"/>
                <a:cs typeface="DejaVu Sans"/>
              </a:defRPr>
            </a:lvl2pPr>
            <a:lvl3pPr>
              <a:defRPr sz="3225" b="1">
                <a:solidFill>
                  <a:srgbClr val="5D3FA8"/>
                </a:solidFill>
                <a:latin typeface="DejaVu Sans"/>
                <a:ea typeface="DejaVu Sans"/>
                <a:cs typeface="DejaVu Sans"/>
              </a:defRPr>
            </a:lvl3pPr>
            <a:lvl4pPr>
              <a:defRPr sz="3225" b="1">
                <a:solidFill>
                  <a:srgbClr val="5D3FA8"/>
                </a:solidFill>
                <a:latin typeface="DejaVu Sans"/>
                <a:ea typeface="DejaVu Sans"/>
                <a:cs typeface="DejaVu Sans"/>
              </a:defRPr>
            </a:lvl4pPr>
            <a:lvl5pPr>
              <a:defRPr sz="3225" b="1">
                <a:solidFill>
                  <a:srgbClr val="5D3FA8"/>
                </a:solidFill>
                <a:latin typeface="DejaVu Sans"/>
                <a:ea typeface="DejaVu Sans"/>
                <a:cs typeface="DejaVu Sans"/>
              </a:defRPr>
            </a:lvl5pPr>
            <a:lvl6pPr>
              <a:defRPr sz="3225" b="1">
                <a:solidFill>
                  <a:srgbClr val="5D3FA8"/>
                </a:solidFill>
                <a:latin typeface="DejaVu Sans"/>
                <a:ea typeface="DejaVu Sans"/>
                <a:cs typeface="DejaVu Sans"/>
              </a:defRPr>
            </a:lvl6pPr>
            <a:lvl7pPr>
              <a:defRPr sz="3225" b="1">
                <a:solidFill>
                  <a:srgbClr val="5D3FA8"/>
                </a:solidFill>
                <a:latin typeface="DejaVu Sans"/>
                <a:ea typeface="DejaVu Sans"/>
                <a:cs typeface="DejaVu Sans"/>
              </a:defRPr>
            </a:lvl7pPr>
            <a:lvl8pPr>
              <a:defRPr sz="3225" b="1">
                <a:solidFill>
                  <a:srgbClr val="5D3FA8"/>
                </a:solidFill>
                <a:latin typeface="DejaVu Sans"/>
                <a:ea typeface="DejaVu Sans"/>
                <a:cs typeface="DejaVu Sans"/>
              </a:defRPr>
            </a:lvl8pPr>
            <a:lvl9pPr>
              <a:defRPr sz="3225" b="1">
                <a:solidFill>
                  <a:srgbClr val="5D3FA8"/>
                </a:solidFill>
                <a:latin typeface="DejaVu Sans"/>
                <a:ea typeface="DejaVu Sans"/>
                <a:cs typeface="DejaVu Sans"/>
              </a:defRPr>
            </a:lvl9pPr>
          </a:lstStyle>
          <a:p xmlns:a="http://schemas.openxmlformats.org/drawingml/2006/main">
            <a:pPr>
              <a:lnSpc>
                <a:spcPct val="112000"/>
              </a:lnSpc>
              <a:buNone/>
              <a:defRPr sz="3225" b="1">
                <a:solidFill>
                  <a:srgbClr val="5D3FA8"/>
                </a:solidFill>
                <a:latin typeface="DejaVu Sans"/>
                <a:ea typeface="DejaVu Sans"/>
                <a:cs typeface="DejaVu Sans"/>
              </a:defRPr>
            </a:pPr>
            <a:r>
              <a:rPr sz="3225" b="1">
                <a:solidFill>
                  <a:srgbClr val="5D3FA8"/>
                </a:solidFill>
                <a:latin typeface="DejaVu Sans"/>
                <a:ea typeface="DejaVu Sans"/>
                <a:cs typeface="DejaVu Sans"/>
              </a:rPr>
              <a:t>02</a:t>
            </a:r>
          </a:p>
        </p:txBody>
      </p:sp>
      <p:sp>
        <p:nvSpPr>
          <p:cNvPr id="7" name="step-title-1">
            <a:extLst xmlns:a="http://schemas.openxmlformats.org/drawingml/2006/main">
              <a:ext uri="{FF2B5EF4-FFF2-40B4-BE49-F238E27FC236}">
                <a16:creationId xmlns:a16="http://schemas.microsoft.com/office/drawing/2014/main" id="{D8A480E4-D8EF-4C7E-91B3-DA29AE731A5E}"/>
              </a:ext>
            </a:extLst>
          </p:cNvPr>
          <p:cNvSpPr>
            <a:spLocks xmlns:a="http://schemas.openxmlformats.org/drawingml/2006/main" noGrp="1"/>
          </p:cNvSpPr>
          <p:nvPr/>
        </p:nvSpPr>
        <p:spPr>
          <a:xfrm xmlns:a="http://schemas.openxmlformats.org/drawingml/2006/main">
            <a:off x="1885950" y="2971800"/>
            <a:ext cx="9620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92C3B"/>
                </a:solidFill>
                <a:latin typeface="DejaVu Sans"/>
                <a:ea typeface="DejaVu Sans"/>
                <a:cs typeface="DejaVu Sans"/>
              </a:defRPr>
            </a:defPPr>
            <a:lvl1pPr>
              <a:defRPr sz="2400" b="1">
                <a:solidFill>
                  <a:srgbClr val="192C3B"/>
                </a:solidFill>
                <a:latin typeface="DejaVu Sans"/>
                <a:ea typeface="DejaVu Sans"/>
                <a:cs typeface="DejaVu Sans"/>
              </a:defRPr>
            </a:lvl1pPr>
            <a:lvl2pPr>
              <a:defRPr sz="2400" b="1">
                <a:solidFill>
                  <a:srgbClr val="192C3B"/>
                </a:solidFill>
                <a:latin typeface="DejaVu Sans"/>
                <a:ea typeface="DejaVu Sans"/>
                <a:cs typeface="DejaVu Sans"/>
              </a:defRPr>
            </a:lvl2pPr>
            <a:lvl3pPr>
              <a:defRPr sz="2400" b="1">
                <a:solidFill>
                  <a:srgbClr val="192C3B"/>
                </a:solidFill>
                <a:latin typeface="DejaVu Sans"/>
                <a:ea typeface="DejaVu Sans"/>
                <a:cs typeface="DejaVu Sans"/>
              </a:defRPr>
            </a:lvl3pPr>
            <a:lvl4pPr>
              <a:defRPr sz="2400" b="1">
                <a:solidFill>
                  <a:srgbClr val="192C3B"/>
                </a:solidFill>
                <a:latin typeface="DejaVu Sans"/>
                <a:ea typeface="DejaVu Sans"/>
                <a:cs typeface="DejaVu Sans"/>
              </a:defRPr>
            </a:lvl4pPr>
            <a:lvl5pPr>
              <a:defRPr sz="2400" b="1">
                <a:solidFill>
                  <a:srgbClr val="192C3B"/>
                </a:solidFill>
                <a:latin typeface="DejaVu Sans"/>
                <a:ea typeface="DejaVu Sans"/>
                <a:cs typeface="DejaVu Sans"/>
              </a:defRPr>
            </a:lvl5pPr>
            <a:lvl6pPr>
              <a:defRPr sz="2400" b="1">
                <a:solidFill>
                  <a:srgbClr val="192C3B"/>
                </a:solidFill>
                <a:latin typeface="DejaVu Sans"/>
                <a:ea typeface="DejaVu Sans"/>
                <a:cs typeface="DejaVu Sans"/>
              </a:defRPr>
            </a:lvl6pPr>
            <a:lvl7pPr>
              <a:defRPr sz="2400" b="1">
                <a:solidFill>
                  <a:srgbClr val="192C3B"/>
                </a:solidFill>
                <a:latin typeface="DejaVu Sans"/>
                <a:ea typeface="DejaVu Sans"/>
                <a:cs typeface="DejaVu Sans"/>
              </a:defRPr>
            </a:lvl7pPr>
            <a:lvl8pPr>
              <a:defRPr sz="2400" b="1">
                <a:solidFill>
                  <a:srgbClr val="192C3B"/>
                </a:solidFill>
                <a:latin typeface="DejaVu Sans"/>
                <a:ea typeface="DejaVu Sans"/>
                <a:cs typeface="DejaVu Sans"/>
              </a:defRPr>
            </a:lvl8pPr>
            <a:lvl9pPr>
              <a:defRPr sz="2400" b="1">
                <a:solidFill>
                  <a:srgbClr val="192C3B"/>
                </a:solidFill>
                <a:latin typeface="DejaVu Sans"/>
                <a:ea typeface="DejaVu Sans"/>
                <a:cs typeface="DejaVu Sans"/>
              </a:defRPr>
            </a:lvl9pPr>
          </a:lstStyle>
          <a:p xmlns:a="http://schemas.openxmlformats.org/drawingml/2006/main">
            <a:pPr>
              <a:lnSpc>
                <a:spcPct val="112000"/>
              </a:lnSpc>
              <a:buNone/>
              <a:defRPr sz="2400" b="1">
                <a:solidFill>
                  <a:srgbClr val="192C3B"/>
                </a:solidFill>
                <a:latin typeface="DejaVu Sans"/>
                <a:ea typeface="DejaVu Sans"/>
                <a:cs typeface="DejaVu Sans"/>
              </a:defRPr>
            </a:pPr>
            <a:r>
              <a:rPr sz="2400" b="1">
                <a:solidFill>
                  <a:srgbClr val="192C3B"/>
                </a:solidFill>
                <a:latin typeface="DejaVu Sans"/>
                <a:ea typeface="DejaVu Sans"/>
                <a:cs typeface="DejaVu Sans"/>
              </a:rPr>
              <a:t>Find the closest map cell</a:t>
            </a:r>
          </a:p>
        </p:txBody>
      </p:sp>
      <p:sp>
        <p:nvSpPr>
          <p:cNvPr id="8" name="step-body-1">
            <a:extLst xmlns:a="http://schemas.openxmlformats.org/drawingml/2006/main">
              <a:ext uri="{FF2B5EF4-FFF2-40B4-BE49-F238E27FC236}">
                <a16:creationId xmlns:a16="http://schemas.microsoft.com/office/drawing/2014/main" id="{655DAAE5-83C0-438E-983F-98A5C501A51E}"/>
              </a:ext>
            </a:extLst>
          </p:cNvPr>
          <p:cNvSpPr>
            <a:spLocks xmlns:a="http://schemas.openxmlformats.org/drawingml/2006/main" noGrp="1"/>
          </p:cNvSpPr>
          <p:nvPr/>
        </p:nvSpPr>
        <p:spPr>
          <a:xfrm xmlns:a="http://schemas.openxmlformats.org/drawingml/2006/main">
            <a:off x="1885950" y="359092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516573"/>
                </a:solidFill>
                <a:latin typeface="DejaVu Sans"/>
                <a:ea typeface="DejaVu Sans"/>
                <a:cs typeface="DejaVu Sans"/>
              </a:defRPr>
            </a:defPPr>
            <a:lvl1pPr>
              <a:defRPr sz="2025" b="0">
                <a:solidFill>
                  <a:srgbClr val="516573"/>
                </a:solidFill>
                <a:latin typeface="DejaVu Sans"/>
                <a:ea typeface="DejaVu Sans"/>
                <a:cs typeface="DejaVu Sans"/>
              </a:defRPr>
            </a:lvl1pPr>
            <a:lvl2pPr>
              <a:defRPr sz="2025" b="0">
                <a:solidFill>
                  <a:srgbClr val="516573"/>
                </a:solidFill>
                <a:latin typeface="DejaVu Sans"/>
                <a:ea typeface="DejaVu Sans"/>
                <a:cs typeface="DejaVu Sans"/>
              </a:defRPr>
            </a:lvl2pPr>
            <a:lvl3pPr>
              <a:defRPr sz="2025" b="0">
                <a:solidFill>
                  <a:srgbClr val="516573"/>
                </a:solidFill>
                <a:latin typeface="DejaVu Sans"/>
                <a:ea typeface="DejaVu Sans"/>
                <a:cs typeface="DejaVu Sans"/>
              </a:defRPr>
            </a:lvl3pPr>
            <a:lvl4pPr>
              <a:defRPr sz="2025" b="0">
                <a:solidFill>
                  <a:srgbClr val="516573"/>
                </a:solidFill>
                <a:latin typeface="DejaVu Sans"/>
                <a:ea typeface="DejaVu Sans"/>
                <a:cs typeface="DejaVu Sans"/>
              </a:defRPr>
            </a:lvl4pPr>
            <a:lvl5pPr>
              <a:defRPr sz="2025" b="0">
                <a:solidFill>
                  <a:srgbClr val="516573"/>
                </a:solidFill>
                <a:latin typeface="DejaVu Sans"/>
                <a:ea typeface="DejaVu Sans"/>
                <a:cs typeface="DejaVu Sans"/>
              </a:defRPr>
            </a:lvl5pPr>
            <a:lvl6pPr>
              <a:defRPr sz="2025" b="0">
                <a:solidFill>
                  <a:srgbClr val="516573"/>
                </a:solidFill>
                <a:latin typeface="DejaVu Sans"/>
                <a:ea typeface="DejaVu Sans"/>
                <a:cs typeface="DejaVu Sans"/>
              </a:defRPr>
            </a:lvl6pPr>
            <a:lvl7pPr>
              <a:defRPr sz="2025" b="0">
                <a:solidFill>
                  <a:srgbClr val="516573"/>
                </a:solidFill>
                <a:latin typeface="DejaVu Sans"/>
                <a:ea typeface="DejaVu Sans"/>
                <a:cs typeface="DejaVu Sans"/>
              </a:defRPr>
            </a:lvl7pPr>
            <a:lvl8pPr>
              <a:defRPr sz="2025" b="0">
                <a:solidFill>
                  <a:srgbClr val="516573"/>
                </a:solidFill>
                <a:latin typeface="DejaVu Sans"/>
                <a:ea typeface="DejaVu Sans"/>
                <a:cs typeface="DejaVu Sans"/>
              </a:defRPr>
            </a:lvl8pPr>
            <a:lvl9pPr>
              <a:defRPr sz="2025" b="0">
                <a:solidFill>
                  <a:srgbClr val="516573"/>
                </a:solidFill>
                <a:latin typeface="DejaVu Sans"/>
                <a:ea typeface="DejaVu Sans"/>
                <a:cs typeface="DejaVu Sans"/>
              </a:defRPr>
            </a:lvl9pPr>
          </a:lstStyle>
          <a:p xmlns:a="http://schemas.openxmlformats.org/drawingml/2006/main">
            <a:pPr>
              <a:lnSpc>
                <a:spcPct val="112000"/>
              </a:lnSpc>
              <a:buNone/>
              <a:defRPr sz="2025" b="0">
                <a:solidFill>
                  <a:srgbClr val="516573"/>
                </a:solidFill>
                <a:latin typeface="DejaVu Sans"/>
                <a:ea typeface="DejaVu Sans"/>
                <a:cs typeface="DejaVu Sans"/>
              </a:defRPr>
            </a:pPr>
            <a:r>
              <a:rPr sz="2025" b="0">
                <a:solidFill>
                  <a:srgbClr val="516573"/>
                </a:solidFill>
                <a:latin typeface="DejaVu Sans"/>
                <a:ea typeface="DejaVu Sans"/>
                <a:cs typeface="DejaVu Sans"/>
              </a:rPr>
              <a:t>Compare the input with the color prototype in each cell.</a:t>
            </a:r>
          </a:p>
        </p:txBody>
      </p:sp>
      <p:sp>
        <p:nvSpPr>
          <p:cNvPr id="9" name="step-number-2">
            <a:extLst xmlns:a="http://schemas.openxmlformats.org/drawingml/2006/main">
              <a:ext uri="{FF2B5EF4-FFF2-40B4-BE49-F238E27FC236}">
                <a16:creationId xmlns:a16="http://schemas.microsoft.com/office/drawing/2014/main" id="{8B5136D5-B80B-48F8-B7AE-1DE8A91669CD}"/>
              </a:ext>
            </a:extLst>
          </p:cNvPr>
          <p:cNvSpPr>
            <a:spLocks xmlns:a="http://schemas.openxmlformats.org/drawingml/2006/main" noGrp="1"/>
          </p:cNvSpPr>
          <p:nvPr/>
        </p:nvSpPr>
        <p:spPr>
          <a:xfrm xmlns:a="http://schemas.openxmlformats.org/drawingml/2006/main">
            <a:off x="685800" y="4381500"/>
            <a:ext cx="809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5D3FA8"/>
                </a:solidFill>
                <a:latin typeface="DejaVu Sans"/>
                <a:ea typeface="DejaVu Sans"/>
                <a:cs typeface="DejaVu Sans"/>
              </a:defRPr>
            </a:defPPr>
            <a:lvl1pPr>
              <a:defRPr sz="3225" b="1">
                <a:solidFill>
                  <a:srgbClr val="5D3FA8"/>
                </a:solidFill>
                <a:latin typeface="DejaVu Sans"/>
                <a:ea typeface="DejaVu Sans"/>
                <a:cs typeface="DejaVu Sans"/>
              </a:defRPr>
            </a:lvl1pPr>
            <a:lvl2pPr>
              <a:defRPr sz="3225" b="1">
                <a:solidFill>
                  <a:srgbClr val="5D3FA8"/>
                </a:solidFill>
                <a:latin typeface="DejaVu Sans"/>
                <a:ea typeface="DejaVu Sans"/>
                <a:cs typeface="DejaVu Sans"/>
              </a:defRPr>
            </a:lvl2pPr>
            <a:lvl3pPr>
              <a:defRPr sz="3225" b="1">
                <a:solidFill>
                  <a:srgbClr val="5D3FA8"/>
                </a:solidFill>
                <a:latin typeface="DejaVu Sans"/>
                <a:ea typeface="DejaVu Sans"/>
                <a:cs typeface="DejaVu Sans"/>
              </a:defRPr>
            </a:lvl3pPr>
            <a:lvl4pPr>
              <a:defRPr sz="3225" b="1">
                <a:solidFill>
                  <a:srgbClr val="5D3FA8"/>
                </a:solidFill>
                <a:latin typeface="DejaVu Sans"/>
                <a:ea typeface="DejaVu Sans"/>
                <a:cs typeface="DejaVu Sans"/>
              </a:defRPr>
            </a:lvl4pPr>
            <a:lvl5pPr>
              <a:defRPr sz="3225" b="1">
                <a:solidFill>
                  <a:srgbClr val="5D3FA8"/>
                </a:solidFill>
                <a:latin typeface="DejaVu Sans"/>
                <a:ea typeface="DejaVu Sans"/>
                <a:cs typeface="DejaVu Sans"/>
              </a:defRPr>
            </a:lvl5pPr>
            <a:lvl6pPr>
              <a:defRPr sz="3225" b="1">
                <a:solidFill>
                  <a:srgbClr val="5D3FA8"/>
                </a:solidFill>
                <a:latin typeface="DejaVu Sans"/>
                <a:ea typeface="DejaVu Sans"/>
                <a:cs typeface="DejaVu Sans"/>
              </a:defRPr>
            </a:lvl6pPr>
            <a:lvl7pPr>
              <a:defRPr sz="3225" b="1">
                <a:solidFill>
                  <a:srgbClr val="5D3FA8"/>
                </a:solidFill>
                <a:latin typeface="DejaVu Sans"/>
                <a:ea typeface="DejaVu Sans"/>
                <a:cs typeface="DejaVu Sans"/>
              </a:defRPr>
            </a:lvl7pPr>
            <a:lvl8pPr>
              <a:defRPr sz="3225" b="1">
                <a:solidFill>
                  <a:srgbClr val="5D3FA8"/>
                </a:solidFill>
                <a:latin typeface="DejaVu Sans"/>
                <a:ea typeface="DejaVu Sans"/>
                <a:cs typeface="DejaVu Sans"/>
              </a:defRPr>
            </a:lvl8pPr>
            <a:lvl9pPr>
              <a:defRPr sz="3225" b="1">
                <a:solidFill>
                  <a:srgbClr val="5D3FA8"/>
                </a:solidFill>
                <a:latin typeface="DejaVu Sans"/>
                <a:ea typeface="DejaVu Sans"/>
                <a:cs typeface="DejaVu Sans"/>
              </a:defRPr>
            </a:lvl9pPr>
          </a:lstStyle>
          <a:p xmlns:a="http://schemas.openxmlformats.org/drawingml/2006/main">
            <a:pPr>
              <a:lnSpc>
                <a:spcPct val="112000"/>
              </a:lnSpc>
              <a:buNone/>
              <a:defRPr sz="3225" b="1">
                <a:solidFill>
                  <a:srgbClr val="5D3FA8"/>
                </a:solidFill>
                <a:latin typeface="DejaVu Sans"/>
                <a:ea typeface="DejaVu Sans"/>
                <a:cs typeface="DejaVu Sans"/>
              </a:defRPr>
            </a:pPr>
            <a:r>
              <a:rPr sz="3225" b="1">
                <a:solidFill>
                  <a:srgbClr val="5D3FA8"/>
                </a:solidFill>
                <a:latin typeface="DejaVu Sans"/>
                <a:ea typeface="DejaVu Sans"/>
                <a:cs typeface="DejaVu Sans"/>
              </a:rPr>
              <a:t>03</a:t>
            </a:r>
          </a:p>
        </p:txBody>
      </p:sp>
      <p:sp>
        <p:nvSpPr>
          <p:cNvPr id="10" name="step-title-2">
            <a:extLst xmlns:a="http://schemas.openxmlformats.org/drawingml/2006/main">
              <a:ext uri="{FF2B5EF4-FFF2-40B4-BE49-F238E27FC236}">
                <a16:creationId xmlns:a16="http://schemas.microsoft.com/office/drawing/2014/main" id="{4D7409EE-C779-4216-B5A2-77B534D107C8}"/>
              </a:ext>
            </a:extLst>
          </p:cNvPr>
          <p:cNvSpPr>
            <a:spLocks xmlns:a="http://schemas.openxmlformats.org/drawingml/2006/main" noGrp="1"/>
          </p:cNvSpPr>
          <p:nvPr/>
        </p:nvSpPr>
        <p:spPr>
          <a:xfrm xmlns:a="http://schemas.openxmlformats.org/drawingml/2006/main">
            <a:off x="1885950" y="4381500"/>
            <a:ext cx="9620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92C3B"/>
                </a:solidFill>
                <a:latin typeface="DejaVu Sans"/>
                <a:ea typeface="DejaVu Sans"/>
                <a:cs typeface="DejaVu Sans"/>
              </a:defRPr>
            </a:defPPr>
            <a:lvl1pPr>
              <a:defRPr sz="2400" b="1">
                <a:solidFill>
                  <a:srgbClr val="192C3B"/>
                </a:solidFill>
                <a:latin typeface="DejaVu Sans"/>
                <a:ea typeface="DejaVu Sans"/>
                <a:cs typeface="DejaVu Sans"/>
              </a:defRPr>
            </a:lvl1pPr>
            <a:lvl2pPr>
              <a:defRPr sz="2400" b="1">
                <a:solidFill>
                  <a:srgbClr val="192C3B"/>
                </a:solidFill>
                <a:latin typeface="DejaVu Sans"/>
                <a:ea typeface="DejaVu Sans"/>
                <a:cs typeface="DejaVu Sans"/>
              </a:defRPr>
            </a:lvl2pPr>
            <a:lvl3pPr>
              <a:defRPr sz="2400" b="1">
                <a:solidFill>
                  <a:srgbClr val="192C3B"/>
                </a:solidFill>
                <a:latin typeface="DejaVu Sans"/>
                <a:ea typeface="DejaVu Sans"/>
                <a:cs typeface="DejaVu Sans"/>
              </a:defRPr>
            </a:lvl3pPr>
            <a:lvl4pPr>
              <a:defRPr sz="2400" b="1">
                <a:solidFill>
                  <a:srgbClr val="192C3B"/>
                </a:solidFill>
                <a:latin typeface="DejaVu Sans"/>
                <a:ea typeface="DejaVu Sans"/>
                <a:cs typeface="DejaVu Sans"/>
              </a:defRPr>
            </a:lvl4pPr>
            <a:lvl5pPr>
              <a:defRPr sz="2400" b="1">
                <a:solidFill>
                  <a:srgbClr val="192C3B"/>
                </a:solidFill>
                <a:latin typeface="DejaVu Sans"/>
                <a:ea typeface="DejaVu Sans"/>
                <a:cs typeface="DejaVu Sans"/>
              </a:defRPr>
            </a:lvl5pPr>
            <a:lvl6pPr>
              <a:defRPr sz="2400" b="1">
                <a:solidFill>
                  <a:srgbClr val="192C3B"/>
                </a:solidFill>
                <a:latin typeface="DejaVu Sans"/>
                <a:ea typeface="DejaVu Sans"/>
                <a:cs typeface="DejaVu Sans"/>
              </a:defRPr>
            </a:lvl6pPr>
            <a:lvl7pPr>
              <a:defRPr sz="2400" b="1">
                <a:solidFill>
                  <a:srgbClr val="192C3B"/>
                </a:solidFill>
                <a:latin typeface="DejaVu Sans"/>
                <a:ea typeface="DejaVu Sans"/>
                <a:cs typeface="DejaVu Sans"/>
              </a:defRPr>
            </a:lvl7pPr>
            <a:lvl8pPr>
              <a:defRPr sz="2400" b="1">
                <a:solidFill>
                  <a:srgbClr val="192C3B"/>
                </a:solidFill>
                <a:latin typeface="DejaVu Sans"/>
                <a:ea typeface="DejaVu Sans"/>
                <a:cs typeface="DejaVu Sans"/>
              </a:defRPr>
            </a:lvl8pPr>
            <a:lvl9pPr>
              <a:defRPr sz="2400" b="1">
                <a:solidFill>
                  <a:srgbClr val="192C3B"/>
                </a:solidFill>
                <a:latin typeface="DejaVu Sans"/>
                <a:ea typeface="DejaVu Sans"/>
                <a:cs typeface="DejaVu Sans"/>
              </a:defRPr>
            </a:lvl9pPr>
          </a:lstStyle>
          <a:p xmlns:a="http://schemas.openxmlformats.org/drawingml/2006/main">
            <a:pPr>
              <a:lnSpc>
                <a:spcPct val="112000"/>
              </a:lnSpc>
              <a:buNone/>
              <a:defRPr sz="2400" b="1">
                <a:solidFill>
                  <a:srgbClr val="192C3B"/>
                </a:solidFill>
                <a:latin typeface="DejaVu Sans"/>
                <a:ea typeface="DejaVu Sans"/>
                <a:cs typeface="DejaVu Sans"/>
              </a:defRPr>
            </a:pPr>
            <a:r>
              <a:rPr sz="2400" b="1">
                <a:solidFill>
                  <a:srgbClr val="192C3B"/>
                </a:solidFill>
                <a:latin typeface="DejaVu Sans"/>
                <a:ea typeface="DejaVu Sans"/>
                <a:cs typeface="DejaVu Sans"/>
              </a:rPr>
              <a:t>Update the map</a:t>
            </a:r>
          </a:p>
        </p:txBody>
      </p:sp>
      <p:sp>
        <p:nvSpPr>
          <p:cNvPr id="11" name="step-body-2">
            <a:extLst xmlns:a="http://schemas.openxmlformats.org/drawingml/2006/main">
              <a:ext uri="{FF2B5EF4-FFF2-40B4-BE49-F238E27FC236}">
                <a16:creationId xmlns:a16="http://schemas.microsoft.com/office/drawing/2014/main" id="{1A6C2988-591E-4504-93C6-42F538896954}"/>
              </a:ext>
            </a:extLst>
          </p:cNvPr>
          <p:cNvSpPr>
            <a:spLocks xmlns:a="http://schemas.openxmlformats.org/drawingml/2006/main" noGrp="1"/>
          </p:cNvSpPr>
          <p:nvPr/>
        </p:nvSpPr>
        <p:spPr>
          <a:xfrm xmlns:a="http://schemas.openxmlformats.org/drawingml/2006/main">
            <a:off x="1885950" y="500062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516573"/>
                </a:solidFill>
                <a:latin typeface="DejaVu Sans"/>
                <a:ea typeface="DejaVu Sans"/>
                <a:cs typeface="DejaVu Sans"/>
              </a:defRPr>
            </a:defPPr>
            <a:lvl1pPr>
              <a:defRPr sz="2025" b="0">
                <a:solidFill>
                  <a:srgbClr val="516573"/>
                </a:solidFill>
                <a:latin typeface="DejaVu Sans"/>
                <a:ea typeface="DejaVu Sans"/>
                <a:cs typeface="DejaVu Sans"/>
              </a:defRPr>
            </a:lvl1pPr>
            <a:lvl2pPr>
              <a:defRPr sz="2025" b="0">
                <a:solidFill>
                  <a:srgbClr val="516573"/>
                </a:solidFill>
                <a:latin typeface="DejaVu Sans"/>
                <a:ea typeface="DejaVu Sans"/>
                <a:cs typeface="DejaVu Sans"/>
              </a:defRPr>
            </a:lvl2pPr>
            <a:lvl3pPr>
              <a:defRPr sz="2025" b="0">
                <a:solidFill>
                  <a:srgbClr val="516573"/>
                </a:solidFill>
                <a:latin typeface="DejaVu Sans"/>
                <a:ea typeface="DejaVu Sans"/>
                <a:cs typeface="DejaVu Sans"/>
              </a:defRPr>
            </a:lvl3pPr>
            <a:lvl4pPr>
              <a:defRPr sz="2025" b="0">
                <a:solidFill>
                  <a:srgbClr val="516573"/>
                </a:solidFill>
                <a:latin typeface="DejaVu Sans"/>
                <a:ea typeface="DejaVu Sans"/>
                <a:cs typeface="DejaVu Sans"/>
              </a:defRPr>
            </a:lvl4pPr>
            <a:lvl5pPr>
              <a:defRPr sz="2025" b="0">
                <a:solidFill>
                  <a:srgbClr val="516573"/>
                </a:solidFill>
                <a:latin typeface="DejaVu Sans"/>
                <a:ea typeface="DejaVu Sans"/>
                <a:cs typeface="DejaVu Sans"/>
              </a:defRPr>
            </a:lvl5pPr>
            <a:lvl6pPr>
              <a:defRPr sz="2025" b="0">
                <a:solidFill>
                  <a:srgbClr val="516573"/>
                </a:solidFill>
                <a:latin typeface="DejaVu Sans"/>
                <a:ea typeface="DejaVu Sans"/>
                <a:cs typeface="DejaVu Sans"/>
              </a:defRPr>
            </a:lvl6pPr>
            <a:lvl7pPr>
              <a:defRPr sz="2025" b="0">
                <a:solidFill>
                  <a:srgbClr val="516573"/>
                </a:solidFill>
                <a:latin typeface="DejaVu Sans"/>
                <a:ea typeface="DejaVu Sans"/>
                <a:cs typeface="DejaVu Sans"/>
              </a:defRPr>
            </a:lvl7pPr>
            <a:lvl8pPr>
              <a:defRPr sz="2025" b="0">
                <a:solidFill>
                  <a:srgbClr val="516573"/>
                </a:solidFill>
                <a:latin typeface="DejaVu Sans"/>
                <a:ea typeface="DejaVu Sans"/>
                <a:cs typeface="DejaVu Sans"/>
              </a:defRPr>
            </a:lvl8pPr>
            <a:lvl9pPr>
              <a:defRPr sz="2025" b="0">
                <a:solidFill>
                  <a:srgbClr val="516573"/>
                </a:solidFill>
                <a:latin typeface="DejaVu Sans"/>
                <a:ea typeface="DejaVu Sans"/>
                <a:cs typeface="DejaVu Sans"/>
              </a:defRPr>
            </a:lvl9pPr>
          </a:lstStyle>
          <a:p xmlns:a="http://schemas.openxmlformats.org/drawingml/2006/main">
            <a:pPr>
              <a:lnSpc>
                <a:spcPct val="112000"/>
              </a:lnSpc>
              <a:buNone/>
              <a:defRPr sz="2025" b="0">
                <a:solidFill>
                  <a:srgbClr val="516573"/>
                </a:solidFill>
                <a:latin typeface="DejaVu Sans"/>
                <a:ea typeface="DejaVu Sans"/>
                <a:cs typeface="DejaVu Sans"/>
              </a:defRPr>
            </a:pPr>
            <a:r>
              <a:rPr sz="2025" b="0">
                <a:solidFill>
                  <a:srgbClr val="516573"/>
                </a:solidFill>
                <a:latin typeface="DejaVu Sans"/>
                <a:ea typeface="DejaVu Sans"/>
                <a:cs typeface="DejaVu Sans"/>
              </a:rPr>
              <a:t>Move the closest prototype and its neighbors toward the input.</a:t>
            </a:r>
          </a:p>
        </p:txBody>
      </p:sp>
      <p:sp>
        <p:nvSpPr>
          <p:cNvPr id="12" name="prototype-note">
            <a:extLst xmlns:a="http://schemas.openxmlformats.org/drawingml/2006/main">
              <a:ext uri="{FF2B5EF4-FFF2-40B4-BE49-F238E27FC236}">
                <a16:creationId xmlns:a16="http://schemas.microsoft.com/office/drawing/2014/main" id="{33FC8334-9E0D-4FCB-8CBE-B1AAF9FF3C45}"/>
              </a:ext>
            </a:extLst>
          </p:cNvPr>
          <p:cNvSpPr>
            <a:spLocks xmlns:a="http://schemas.openxmlformats.org/drawingml/2006/main" noGrp="1"/>
          </p:cNvSpPr>
          <p:nvPr/>
        </p:nvSpPr>
        <p:spPr>
          <a:xfrm xmlns:a="http://schemas.openxmlformats.org/drawingml/2006/main">
            <a:off x="1885950" y="5953125"/>
            <a:ext cx="9620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087F80"/>
                </a:solidFill>
                <a:latin typeface="DejaVu Sans"/>
                <a:ea typeface="DejaVu Sans"/>
                <a:cs typeface="DejaVu Sans"/>
              </a:defRPr>
            </a:defPPr>
            <a:lvl1pPr>
              <a:defRPr sz="1800" b="0">
                <a:solidFill>
                  <a:srgbClr val="087F80"/>
                </a:solidFill>
                <a:latin typeface="DejaVu Sans"/>
                <a:ea typeface="DejaVu Sans"/>
                <a:cs typeface="DejaVu Sans"/>
              </a:defRPr>
            </a:lvl1pPr>
            <a:lvl2pPr>
              <a:defRPr sz="1800" b="0">
                <a:solidFill>
                  <a:srgbClr val="087F80"/>
                </a:solidFill>
                <a:latin typeface="DejaVu Sans"/>
                <a:ea typeface="DejaVu Sans"/>
                <a:cs typeface="DejaVu Sans"/>
              </a:defRPr>
            </a:lvl2pPr>
            <a:lvl3pPr>
              <a:defRPr sz="1800" b="0">
                <a:solidFill>
                  <a:srgbClr val="087F80"/>
                </a:solidFill>
                <a:latin typeface="DejaVu Sans"/>
                <a:ea typeface="DejaVu Sans"/>
                <a:cs typeface="DejaVu Sans"/>
              </a:defRPr>
            </a:lvl3pPr>
            <a:lvl4pPr>
              <a:defRPr sz="1800" b="0">
                <a:solidFill>
                  <a:srgbClr val="087F80"/>
                </a:solidFill>
                <a:latin typeface="DejaVu Sans"/>
                <a:ea typeface="DejaVu Sans"/>
                <a:cs typeface="DejaVu Sans"/>
              </a:defRPr>
            </a:lvl4pPr>
            <a:lvl5pPr>
              <a:defRPr sz="1800" b="0">
                <a:solidFill>
                  <a:srgbClr val="087F80"/>
                </a:solidFill>
                <a:latin typeface="DejaVu Sans"/>
                <a:ea typeface="DejaVu Sans"/>
                <a:cs typeface="DejaVu Sans"/>
              </a:defRPr>
            </a:lvl5pPr>
            <a:lvl6pPr>
              <a:defRPr sz="1800" b="0">
                <a:solidFill>
                  <a:srgbClr val="087F80"/>
                </a:solidFill>
                <a:latin typeface="DejaVu Sans"/>
                <a:ea typeface="DejaVu Sans"/>
                <a:cs typeface="DejaVu Sans"/>
              </a:defRPr>
            </a:lvl6pPr>
            <a:lvl7pPr>
              <a:defRPr sz="1800" b="0">
                <a:solidFill>
                  <a:srgbClr val="087F80"/>
                </a:solidFill>
                <a:latin typeface="DejaVu Sans"/>
                <a:ea typeface="DejaVu Sans"/>
                <a:cs typeface="DejaVu Sans"/>
              </a:defRPr>
            </a:lvl7pPr>
            <a:lvl8pPr>
              <a:defRPr sz="1800" b="0">
                <a:solidFill>
                  <a:srgbClr val="087F80"/>
                </a:solidFill>
                <a:latin typeface="DejaVu Sans"/>
                <a:ea typeface="DejaVu Sans"/>
                <a:cs typeface="DejaVu Sans"/>
              </a:defRPr>
            </a:lvl8pPr>
            <a:lvl9pPr>
              <a:defRPr sz="1800" b="0">
                <a:solidFill>
                  <a:srgbClr val="087F80"/>
                </a:solidFill>
                <a:latin typeface="DejaVu Sans"/>
                <a:ea typeface="DejaVu Sans"/>
                <a:cs typeface="DejaVu Sans"/>
              </a:defRPr>
            </a:lvl9pPr>
          </a:lstStyle>
          <a:p xmlns:a="http://schemas.openxmlformats.org/drawingml/2006/main">
            <a:pPr>
              <a:lnSpc>
                <a:spcPct val="112000"/>
              </a:lnSpc>
              <a:buNone/>
              <a:defRPr sz="1800" b="0">
                <a:solidFill>
                  <a:srgbClr val="087F80"/>
                </a:solidFill>
                <a:latin typeface="DejaVu Sans"/>
                <a:ea typeface="DejaVu Sans"/>
                <a:cs typeface="DejaVu Sans"/>
              </a:defRPr>
            </a:pPr>
            <a:r>
              <a:rPr sz="1800" b="0">
                <a:solidFill>
                  <a:srgbClr val="087F80"/>
                </a:solidFill>
                <a:latin typeface="DejaVu Sans"/>
                <a:ea typeface="DejaVu Sans"/>
                <a:cs typeface="DejaVu Sans"/>
              </a:rPr>
              <a:t>Each map cell stores a learned representative color.</a:t>
            </a:r>
          </a:p>
        </p:txBody>
      </p:sp>
    </p:spTree>
    <p:extLst>
      <p:ext uri="{BB962C8B-B14F-4D97-AF65-F5344CB8AC3E}">
        <p14:creationId xmlns:p14="http://schemas.microsoft.com/office/powerpoint/2010/main" val="16629800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3EBE61AA-58DC-4ABE-812A-AB5AA78498B0}"/>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A short Python example</a:t>
            </a:r>
          </a:p>
        </p:txBody>
      </p:sp>
      <p:sp>
        <p:nvSpPr>
          <p:cNvPr id="2" name="slide-number">
            <a:extLst xmlns:a="http://schemas.openxmlformats.org/drawingml/2006/main">
              <a:ext uri="{FF2B5EF4-FFF2-40B4-BE49-F238E27FC236}">
                <a16:creationId xmlns:a16="http://schemas.microsoft.com/office/drawing/2014/main" id="{3C7CB5B5-F160-4CAC-9D38-89F7806ECAFB}"/>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05</a:t>
            </a:r>
          </a:p>
        </p:txBody>
      </p:sp>
      <p:sp>
        <p:nvSpPr>
          <p:cNvPr id="3" name="code-line-0">
            <a:extLst xmlns:a="http://schemas.openxmlformats.org/drawingml/2006/main">
              <a:ext uri="{FF2B5EF4-FFF2-40B4-BE49-F238E27FC236}">
                <a16:creationId xmlns:a16="http://schemas.microsoft.com/office/drawing/2014/main" id="{2BC78894-90F0-459D-9F96-CAFFCA5966C1}"/>
              </a:ext>
            </a:extLst>
          </p:cNvPr>
          <p:cNvSpPr>
            <a:spLocks xmlns:a="http://schemas.openxmlformats.org/drawingml/2006/main" noGrp="1"/>
          </p:cNvSpPr>
          <p:nvPr/>
        </p:nvSpPr>
        <p:spPr>
          <a:xfrm xmlns:a="http://schemas.openxmlformats.org/drawingml/2006/main">
            <a:off x="685800" y="14382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087F80"/>
                </a:solidFill>
                <a:latin typeface="DejaVu Sans Mono"/>
                <a:ea typeface="DejaVu Sans Mono"/>
                <a:cs typeface="DejaVu Sans Mono"/>
              </a:defRPr>
            </a:defPPr>
            <a:lvl1pPr>
              <a:defRPr sz="1875" b="0">
                <a:solidFill>
                  <a:srgbClr val="087F80"/>
                </a:solidFill>
                <a:latin typeface="DejaVu Sans Mono"/>
                <a:ea typeface="DejaVu Sans Mono"/>
                <a:cs typeface="DejaVu Sans Mono"/>
              </a:defRPr>
            </a:lvl1pPr>
            <a:lvl2pPr>
              <a:defRPr sz="1875" b="0">
                <a:solidFill>
                  <a:srgbClr val="087F80"/>
                </a:solidFill>
                <a:latin typeface="DejaVu Sans Mono"/>
                <a:ea typeface="DejaVu Sans Mono"/>
                <a:cs typeface="DejaVu Sans Mono"/>
              </a:defRPr>
            </a:lvl2pPr>
            <a:lvl3pPr>
              <a:defRPr sz="1875" b="0">
                <a:solidFill>
                  <a:srgbClr val="087F80"/>
                </a:solidFill>
                <a:latin typeface="DejaVu Sans Mono"/>
                <a:ea typeface="DejaVu Sans Mono"/>
                <a:cs typeface="DejaVu Sans Mono"/>
              </a:defRPr>
            </a:lvl3pPr>
            <a:lvl4pPr>
              <a:defRPr sz="1875" b="0">
                <a:solidFill>
                  <a:srgbClr val="087F80"/>
                </a:solidFill>
                <a:latin typeface="DejaVu Sans Mono"/>
                <a:ea typeface="DejaVu Sans Mono"/>
                <a:cs typeface="DejaVu Sans Mono"/>
              </a:defRPr>
            </a:lvl4pPr>
            <a:lvl5pPr>
              <a:defRPr sz="1875" b="0">
                <a:solidFill>
                  <a:srgbClr val="087F80"/>
                </a:solidFill>
                <a:latin typeface="DejaVu Sans Mono"/>
                <a:ea typeface="DejaVu Sans Mono"/>
                <a:cs typeface="DejaVu Sans Mono"/>
              </a:defRPr>
            </a:lvl5pPr>
            <a:lvl6pPr>
              <a:defRPr sz="1875" b="0">
                <a:solidFill>
                  <a:srgbClr val="087F80"/>
                </a:solidFill>
                <a:latin typeface="DejaVu Sans Mono"/>
                <a:ea typeface="DejaVu Sans Mono"/>
                <a:cs typeface="DejaVu Sans Mono"/>
              </a:defRPr>
            </a:lvl6pPr>
            <a:lvl7pPr>
              <a:defRPr sz="1875" b="0">
                <a:solidFill>
                  <a:srgbClr val="087F80"/>
                </a:solidFill>
                <a:latin typeface="DejaVu Sans Mono"/>
                <a:ea typeface="DejaVu Sans Mono"/>
                <a:cs typeface="DejaVu Sans Mono"/>
              </a:defRPr>
            </a:lvl7pPr>
            <a:lvl8pPr>
              <a:defRPr sz="1875" b="0">
                <a:solidFill>
                  <a:srgbClr val="087F80"/>
                </a:solidFill>
                <a:latin typeface="DejaVu Sans Mono"/>
                <a:ea typeface="DejaVu Sans Mono"/>
                <a:cs typeface="DejaVu Sans Mono"/>
              </a:defRPr>
            </a:lvl8pPr>
            <a:lvl9pPr>
              <a:defRPr sz="1875" b="0">
                <a:solidFill>
                  <a:srgbClr val="087F80"/>
                </a:solidFill>
                <a:latin typeface="DejaVu Sans Mono"/>
                <a:ea typeface="DejaVu Sans Mono"/>
                <a:cs typeface="DejaVu Sans Mono"/>
              </a:defRPr>
            </a:lvl9pPr>
          </a:lstStyle>
          <a:p xmlns:a="http://schemas.openxmlformats.org/drawingml/2006/main">
            <a:pPr>
              <a:lnSpc>
                <a:spcPct val="112000"/>
              </a:lnSpc>
              <a:buNone/>
              <a:defRPr sz="1875" b="0">
                <a:solidFill>
                  <a:srgbClr val="087F80"/>
                </a:solidFill>
                <a:latin typeface="DejaVu Sans Mono"/>
                <a:ea typeface="DejaVu Sans Mono"/>
                <a:cs typeface="DejaVu Sans Mono"/>
              </a:defRPr>
            </a:pPr>
            <a:r>
              <a:rPr sz="1875" b="0">
                <a:solidFill>
                  <a:srgbClr val="087F80"/>
                </a:solidFill>
                <a:latin typeface="DejaVu Sans Mono"/>
                <a:ea typeface="DejaVu Sans Mono"/>
                <a:cs typeface="DejaVu Sans Mono"/>
              </a:rPr>
              <a:t>import numpy as np</a:t>
            </a:r>
          </a:p>
        </p:txBody>
      </p:sp>
      <p:sp>
        <p:nvSpPr>
          <p:cNvPr id="4" name="code-line-1">
            <a:extLst xmlns:a="http://schemas.openxmlformats.org/drawingml/2006/main">
              <a:ext uri="{FF2B5EF4-FFF2-40B4-BE49-F238E27FC236}">
                <a16:creationId xmlns:a16="http://schemas.microsoft.com/office/drawing/2014/main" id="{53F16B27-A035-48B4-BD8D-27D5E4EE559C}"/>
              </a:ext>
            </a:extLst>
          </p:cNvPr>
          <p:cNvSpPr>
            <a:spLocks xmlns:a="http://schemas.openxmlformats.org/drawingml/2006/main" noGrp="1"/>
          </p:cNvSpPr>
          <p:nvPr/>
        </p:nvSpPr>
        <p:spPr>
          <a:xfrm xmlns:a="http://schemas.openxmlformats.org/drawingml/2006/main">
            <a:off x="685800" y="176212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087F80"/>
                </a:solidFill>
                <a:latin typeface="DejaVu Sans Mono"/>
                <a:ea typeface="DejaVu Sans Mono"/>
                <a:cs typeface="DejaVu Sans Mono"/>
              </a:defRPr>
            </a:defPPr>
            <a:lvl1pPr>
              <a:defRPr sz="1875" b="0">
                <a:solidFill>
                  <a:srgbClr val="087F80"/>
                </a:solidFill>
                <a:latin typeface="DejaVu Sans Mono"/>
                <a:ea typeface="DejaVu Sans Mono"/>
                <a:cs typeface="DejaVu Sans Mono"/>
              </a:defRPr>
            </a:lvl1pPr>
            <a:lvl2pPr>
              <a:defRPr sz="1875" b="0">
                <a:solidFill>
                  <a:srgbClr val="087F80"/>
                </a:solidFill>
                <a:latin typeface="DejaVu Sans Mono"/>
                <a:ea typeface="DejaVu Sans Mono"/>
                <a:cs typeface="DejaVu Sans Mono"/>
              </a:defRPr>
            </a:lvl2pPr>
            <a:lvl3pPr>
              <a:defRPr sz="1875" b="0">
                <a:solidFill>
                  <a:srgbClr val="087F80"/>
                </a:solidFill>
                <a:latin typeface="DejaVu Sans Mono"/>
                <a:ea typeface="DejaVu Sans Mono"/>
                <a:cs typeface="DejaVu Sans Mono"/>
              </a:defRPr>
            </a:lvl3pPr>
            <a:lvl4pPr>
              <a:defRPr sz="1875" b="0">
                <a:solidFill>
                  <a:srgbClr val="087F80"/>
                </a:solidFill>
                <a:latin typeface="DejaVu Sans Mono"/>
                <a:ea typeface="DejaVu Sans Mono"/>
                <a:cs typeface="DejaVu Sans Mono"/>
              </a:defRPr>
            </a:lvl4pPr>
            <a:lvl5pPr>
              <a:defRPr sz="1875" b="0">
                <a:solidFill>
                  <a:srgbClr val="087F80"/>
                </a:solidFill>
                <a:latin typeface="DejaVu Sans Mono"/>
                <a:ea typeface="DejaVu Sans Mono"/>
                <a:cs typeface="DejaVu Sans Mono"/>
              </a:defRPr>
            </a:lvl5pPr>
            <a:lvl6pPr>
              <a:defRPr sz="1875" b="0">
                <a:solidFill>
                  <a:srgbClr val="087F80"/>
                </a:solidFill>
                <a:latin typeface="DejaVu Sans Mono"/>
                <a:ea typeface="DejaVu Sans Mono"/>
                <a:cs typeface="DejaVu Sans Mono"/>
              </a:defRPr>
            </a:lvl6pPr>
            <a:lvl7pPr>
              <a:defRPr sz="1875" b="0">
                <a:solidFill>
                  <a:srgbClr val="087F80"/>
                </a:solidFill>
                <a:latin typeface="DejaVu Sans Mono"/>
                <a:ea typeface="DejaVu Sans Mono"/>
                <a:cs typeface="DejaVu Sans Mono"/>
              </a:defRPr>
            </a:lvl7pPr>
            <a:lvl8pPr>
              <a:defRPr sz="1875" b="0">
                <a:solidFill>
                  <a:srgbClr val="087F80"/>
                </a:solidFill>
                <a:latin typeface="DejaVu Sans Mono"/>
                <a:ea typeface="DejaVu Sans Mono"/>
                <a:cs typeface="DejaVu Sans Mono"/>
              </a:defRPr>
            </a:lvl8pPr>
            <a:lvl9pPr>
              <a:defRPr sz="1875" b="0">
                <a:solidFill>
                  <a:srgbClr val="087F80"/>
                </a:solidFill>
                <a:latin typeface="DejaVu Sans Mono"/>
                <a:ea typeface="DejaVu Sans Mono"/>
                <a:cs typeface="DejaVu Sans Mono"/>
              </a:defRPr>
            </a:lvl9pPr>
          </a:lstStyle>
          <a:p xmlns:a="http://schemas.openxmlformats.org/drawingml/2006/main">
            <a:pPr>
              <a:lnSpc>
                <a:spcPct val="112000"/>
              </a:lnSpc>
              <a:buNone/>
              <a:defRPr sz="1875" b="0">
                <a:solidFill>
                  <a:srgbClr val="087F80"/>
                </a:solidFill>
                <a:latin typeface="DejaVu Sans Mono"/>
                <a:ea typeface="DejaVu Sans Mono"/>
                <a:cs typeface="DejaVu Sans Mono"/>
              </a:defRPr>
            </a:pPr>
            <a:r>
              <a:rPr sz="1875" b="0">
                <a:solidFill>
                  <a:srgbClr val="087F80"/>
                </a:solidFill>
                <a:latin typeface="DejaVu Sans Mono"/>
                <a:ea typeface="DejaVu Sans Mono"/>
                <a:cs typeface="DejaVu Sans Mono"/>
              </a:rPr>
              <a:t>from minisom import MiniSom</a:t>
            </a:r>
          </a:p>
        </p:txBody>
      </p:sp>
      <p:sp>
        <p:nvSpPr>
          <p:cNvPr id="5" name="code-line-2">
            <a:extLst xmlns:a="http://schemas.openxmlformats.org/drawingml/2006/main">
              <a:ext uri="{FF2B5EF4-FFF2-40B4-BE49-F238E27FC236}">
                <a16:creationId xmlns:a16="http://schemas.microsoft.com/office/drawing/2014/main" id="{C1A0C1A0-5EFC-40A8-B70A-CA1306FD2573}"/>
              </a:ext>
            </a:extLst>
          </p:cNvPr>
          <p:cNvSpPr>
            <a:spLocks xmlns:a="http://schemas.openxmlformats.org/drawingml/2006/main" noGrp="1"/>
          </p:cNvSpPr>
          <p:nvPr/>
        </p:nvSpPr>
        <p:spPr>
          <a:xfrm xmlns:a="http://schemas.openxmlformats.org/drawingml/2006/main">
            <a:off x="685800" y="20859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r>
              <a:t/>
            </a:r>
          </a:p>
        </p:txBody>
      </p:sp>
      <p:sp>
        <p:nvSpPr>
          <p:cNvPr id="6" name="code-line-3">
            <a:extLst xmlns:a="http://schemas.openxmlformats.org/drawingml/2006/main">
              <a:ext uri="{FF2B5EF4-FFF2-40B4-BE49-F238E27FC236}">
                <a16:creationId xmlns:a16="http://schemas.microsoft.com/office/drawing/2014/main" id="{7754B01E-8883-4ACF-AEEA-29E20663D49F}"/>
              </a:ext>
            </a:extLst>
          </p:cNvPr>
          <p:cNvSpPr>
            <a:spLocks xmlns:a="http://schemas.openxmlformats.org/drawingml/2006/main" noGrp="1"/>
          </p:cNvSpPr>
          <p:nvPr/>
        </p:nvSpPr>
        <p:spPr>
          <a:xfrm xmlns:a="http://schemas.openxmlformats.org/drawingml/2006/main">
            <a:off x="685800" y="240982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rng = np.random.default_rng(42)</a:t>
            </a:r>
          </a:p>
        </p:txBody>
      </p:sp>
      <p:sp>
        <p:nvSpPr>
          <p:cNvPr id="7" name="code-line-4">
            <a:extLst xmlns:a="http://schemas.openxmlformats.org/drawingml/2006/main">
              <a:ext uri="{FF2B5EF4-FFF2-40B4-BE49-F238E27FC236}">
                <a16:creationId xmlns:a16="http://schemas.microsoft.com/office/drawing/2014/main" id="{935BEFA0-82D1-4FF9-98E6-7A9B42469215}"/>
              </a:ext>
            </a:extLst>
          </p:cNvPr>
          <p:cNvSpPr>
            <a:spLocks xmlns:a="http://schemas.openxmlformats.org/drawingml/2006/main" noGrp="1"/>
          </p:cNvSpPr>
          <p:nvPr/>
        </p:nvSpPr>
        <p:spPr>
          <a:xfrm xmlns:a="http://schemas.openxmlformats.org/drawingml/2006/main">
            <a:off x="685800" y="27336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colors = rng.random((1000, 3))</a:t>
            </a:r>
          </a:p>
        </p:txBody>
      </p:sp>
      <p:sp>
        <p:nvSpPr>
          <p:cNvPr id="8" name="code-line-5">
            <a:extLst xmlns:a="http://schemas.openxmlformats.org/drawingml/2006/main">
              <a:ext uri="{FF2B5EF4-FFF2-40B4-BE49-F238E27FC236}">
                <a16:creationId xmlns:a16="http://schemas.microsoft.com/office/drawing/2014/main" id="{C7B72413-094B-4DF5-BEBC-5C0B256ACDA0}"/>
              </a:ext>
            </a:extLst>
          </p:cNvPr>
          <p:cNvSpPr>
            <a:spLocks xmlns:a="http://schemas.openxmlformats.org/drawingml/2006/main" noGrp="1"/>
          </p:cNvSpPr>
          <p:nvPr/>
        </p:nvSpPr>
        <p:spPr>
          <a:xfrm xmlns:a="http://schemas.openxmlformats.org/drawingml/2006/main">
            <a:off x="685800" y="305752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r>
              <a:t/>
            </a:r>
          </a:p>
        </p:txBody>
      </p:sp>
      <p:sp>
        <p:nvSpPr>
          <p:cNvPr id="9" name="code-line-6">
            <a:extLst xmlns:a="http://schemas.openxmlformats.org/drawingml/2006/main">
              <a:ext uri="{FF2B5EF4-FFF2-40B4-BE49-F238E27FC236}">
                <a16:creationId xmlns:a16="http://schemas.microsoft.com/office/drawing/2014/main" id="{5957CDAB-7A6A-4EB8-AFCA-29EE680D027E}"/>
              </a:ext>
            </a:extLst>
          </p:cNvPr>
          <p:cNvSpPr>
            <a:spLocks xmlns:a="http://schemas.openxmlformats.org/drawingml/2006/main" noGrp="1"/>
          </p:cNvSpPr>
          <p:nvPr/>
        </p:nvSpPr>
        <p:spPr>
          <a:xfrm xmlns:a="http://schemas.openxmlformats.org/drawingml/2006/main">
            <a:off x="685800" y="33813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som = MiniSom(16, 16, 3, sigma=2.0,</a:t>
            </a:r>
          </a:p>
        </p:txBody>
      </p:sp>
      <p:sp>
        <p:nvSpPr>
          <p:cNvPr id="10" name="code-line-7">
            <a:extLst xmlns:a="http://schemas.openxmlformats.org/drawingml/2006/main">
              <a:ext uri="{FF2B5EF4-FFF2-40B4-BE49-F238E27FC236}">
                <a16:creationId xmlns:a16="http://schemas.microsoft.com/office/drawing/2014/main" id="{C1F2A60E-B18B-4E66-882E-3DC74798CB86}"/>
              </a:ext>
            </a:extLst>
          </p:cNvPr>
          <p:cNvSpPr>
            <a:spLocks xmlns:a="http://schemas.openxmlformats.org/drawingml/2006/main" noGrp="1"/>
          </p:cNvSpPr>
          <p:nvPr/>
        </p:nvSpPr>
        <p:spPr>
          <a:xfrm xmlns:a="http://schemas.openxmlformats.org/drawingml/2006/main">
            <a:off x="685800" y="370522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              learning_rate=0.5, random_seed=42)</a:t>
            </a:r>
          </a:p>
        </p:txBody>
      </p:sp>
      <p:sp>
        <p:nvSpPr>
          <p:cNvPr id="11" name="code-line-8">
            <a:extLst xmlns:a="http://schemas.openxmlformats.org/drawingml/2006/main">
              <a:ext uri="{FF2B5EF4-FFF2-40B4-BE49-F238E27FC236}">
                <a16:creationId xmlns:a16="http://schemas.microsoft.com/office/drawing/2014/main" id="{CB26707C-018D-4619-B27B-FB6DFBF37DC5}"/>
              </a:ext>
            </a:extLst>
          </p:cNvPr>
          <p:cNvSpPr>
            <a:spLocks xmlns:a="http://schemas.openxmlformats.org/drawingml/2006/main" noGrp="1"/>
          </p:cNvSpPr>
          <p:nvPr/>
        </p:nvSpPr>
        <p:spPr>
          <a:xfrm xmlns:a="http://schemas.openxmlformats.org/drawingml/2006/main">
            <a:off x="685800" y="40290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som.random_weights_init(colors)</a:t>
            </a:r>
          </a:p>
        </p:txBody>
      </p:sp>
      <p:sp>
        <p:nvSpPr>
          <p:cNvPr id="12" name="code-line-9">
            <a:extLst xmlns:a="http://schemas.openxmlformats.org/drawingml/2006/main">
              <a:ext uri="{FF2B5EF4-FFF2-40B4-BE49-F238E27FC236}">
                <a16:creationId xmlns:a16="http://schemas.microsoft.com/office/drawing/2014/main" id="{3D7610C7-E358-4E88-B439-9322514B2F17}"/>
              </a:ext>
            </a:extLst>
          </p:cNvPr>
          <p:cNvSpPr>
            <a:spLocks xmlns:a="http://schemas.openxmlformats.org/drawingml/2006/main" noGrp="1"/>
          </p:cNvSpPr>
          <p:nvPr/>
        </p:nvSpPr>
        <p:spPr>
          <a:xfrm xmlns:a="http://schemas.openxmlformats.org/drawingml/2006/main">
            <a:off x="685800" y="435292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before = som.get_weights().copy()</a:t>
            </a:r>
          </a:p>
        </p:txBody>
      </p:sp>
      <p:sp>
        <p:nvSpPr>
          <p:cNvPr id="13" name="code-line-10">
            <a:extLst xmlns:a="http://schemas.openxmlformats.org/drawingml/2006/main">
              <a:ext uri="{FF2B5EF4-FFF2-40B4-BE49-F238E27FC236}">
                <a16:creationId xmlns:a16="http://schemas.microsoft.com/office/drawing/2014/main" id="{5E88A244-6CBF-4B3B-8DD1-6B20C360B0E0}"/>
              </a:ext>
            </a:extLst>
          </p:cNvPr>
          <p:cNvSpPr>
            <a:spLocks xmlns:a="http://schemas.openxmlformats.org/drawingml/2006/main" noGrp="1"/>
          </p:cNvSpPr>
          <p:nvPr/>
        </p:nvSpPr>
        <p:spPr>
          <a:xfrm xmlns:a="http://schemas.openxmlformats.org/drawingml/2006/main">
            <a:off x="685800" y="46767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som.train_random(colors, 20000)</a:t>
            </a:r>
          </a:p>
        </p:txBody>
      </p:sp>
      <p:sp>
        <p:nvSpPr>
          <p:cNvPr id="14" name="code-line-11">
            <a:extLst xmlns:a="http://schemas.openxmlformats.org/drawingml/2006/main">
              <a:ext uri="{FF2B5EF4-FFF2-40B4-BE49-F238E27FC236}">
                <a16:creationId xmlns:a16="http://schemas.microsoft.com/office/drawing/2014/main" id="{77945501-C814-4ADC-9784-043AE97B0357}"/>
              </a:ext>
            </a:extLst>
          </p:cNvPr>
          <p:cNvSpPr>
            <a:spLocks xmlns:a="http://schemas.openxmlformats.org/drawingml/2006/main" noGrp="1"/>
          </p:cNvSpPr>
          <p:nvPr/>
        </p:nvSpPr>
        <p:spPr>
          <a:xfrm xmlns:a="http://schemas.openxmlformats.org/drawingml/2006/main">
            <a:off x="685800" y="500062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after = som.get_weights()</a:t>
            </a:r>
          </a:p>
        </p:txBody>
      </p:sp>
      <p:sp>
        <p:nvSpPr>
          <p:cNvPr id="15" name="code-line-12">
            <a:extLst xmlns:a="http://schemas.openxmlformats.org/drawingml/2006/main">
              <a:ext uri="{FF2B5EF4-FFF2-40B4-BE49-F238E27FC236}">
                <a16:creationId xmlns:a16="http://schemas.microsoft.com/office/drawing/2014/main" id="{FB45B1ED-1B9F-4E4D-BD2B-ECC56A3D9553}"/>
              </a:ext>
            </a:extLst>
          </p:cNvPr>
          <p:cNvSpPr>
            <a:spLocks xmlns:a="http://schemas.openxmlformats.org/drawingml/2006/main" noGrp="1"/>
          </p:cNvSpPr>
          <p:nvPr/>
        </p:nvSpPr>
        <p:spPr>
          <a:xfrm xmlns:a="http://schemas.openxmlformats.org/drawingml/2006/main">
            <a:off x="685800" y="53244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92C3B"/>
                </a:solidFill>
                <a:latin typeface="DejaVu Sans Mono"/>
                <a:ea typeface="DejaVu Sans Mono"/>
                <a:cs typeface="DejaVu Sans Mono"/>
              </a:defRPr>
            </a:defPPr>
            <a:lvl1pPr>
              <a:defRPr sz="1875" b="0">
                <a:solidFill>
                  <a:srgbClr val="192C3B"/>
                </a:solidFill>
                <a:latin typeface="DejaVu Sans Mono"/>
                <a:ea typeface="DejaVu Sans Mono"/>
                <a:cs typeface="DejaVu Sans Mono"/>
              </a:defRPr>
            </a:lvl1pPr>
            <a:lvl2pPr>
              <a:defRPr sz="1875" b="0">
                <a:solidFill>
                  <a:srgbClr val="192C3B"/>
                </a:solidFill>
                <a:latin typeface="DejaVu Sans Mono"/>
                <a:ea typeface="DejaVu Sans Mono"/>
                <a:cs typeface="DejaVu Sans Mono"/>
              </a:defRPr>
            </a:lvl2pPr>
            <a:lvl3pPr>
              <a:defRPr sz="1875" b="0">
                <a:solidFill>
                  <a:srgbClr val="192C3B"/>
                </a:solidFill>
                <a:latin typeface="DejaVu Sans Mono"/>
                <a:ea typeface="DejaVu Sans Mono"/>
                <a:cs typeface="DejaVu Sans Mono"/>
              </a:defRPr>
            </a:lvl3pPr>
            <a:lvl4pPr>
              <a:defRPr sz="1875" b="0">
                <a:solidFill>
                  <a:srgbClr val="192C3B"/>
                </a:solidFill>
                <a:latin typeface="DejaVu Sans Mono"/>
                <a:ea typeface="DejaVu Sans Mono"/>
                <a:cs typeface="DejaVu Sans Mono"/>
              </a:defRPr>
            </a:lvl4pPr>
            <a:lvl5pPr>
              <a:defRPr sz="1875" b="0">
                <a:solidFill>
                  <a:srgbClr val="192C3B"/>
                </a:solidFill>
                <a:latin typeface="DejaVu Sans Mono"/>
                <a:ea typeface="DejaVu Sans Mono"/>
                <a:cs typeface="DejaVu Sans Mono"/>
              </a:defRPr>
            </a:lvl5pPr>
            <a:lvl6pPr>
              <a:defRPr sz="1875" b="0">
                <a:solidFill>
                  <a:srgbClr val="192C3B"/>
                </a:solidFill>
                <a:latin typeface="DejaVu Sans Mono"/>
                <a:ea typeface="DejaVu Sans Mono"/>
                <a:cs typeface="DejaVu Sans Mono"/>
              </a:defRPr>
            </a:lvl6pPr>
            <a:lvl7pPr>
              <a:defRPr sz="1875" b="0">
                <a:solidFill>
                  <a:srgbClr val="192C3B"/>
                </a:solidFill>
                <a:latin typeface="DejaVu Sans Mono"/>
                <a:ea typeface="DejaVu Sans Mono"/>
                <a:cs typeface="DejaVu Sans Mono"/>
              </a:defRPr>
            </a:lvl7pPr>
            <a:lvl8pPr>
              <a:defRPr sz="1875" b="0">
                <a:solidFill>
                  <a:srgbClr val="192C3B"/>
                </a:solidFill>
                <a:latin typeface="DejaVu Sans Mono"/>
                <a:ea typeface="DejaVu Sans Mono"/>
                <a:cs typeface="DejaVu Sans Mono"/>
              </a:defRPr>
            </a:lvl8pPr>
            <a:lvl9pPr>
              <a:defRPr sz="1875" b="0">
                <a:solidFill>
                  <a:srgbClr val="192C3B"/>
                </a:solidFill>
                <a:latin typeface="DejaVu Sans Mono"/>
                <a:ea typeface="DejaVu Sans Mono"/>
                <a:cs typeface="DejaVu Sans Mono"/>
              </a:defRPr>
            </a:lvl9pPr>
          </a:lstStyle>
          <a:p xmlns:a="http://schemas.openxmlformats.org/drawingml/2006/main">
            <a:pPr>
              <a:lnSpc>
                <a:spcPct val="112000"/>
              </a:lnSpc>
              <a:buNone/>
              <a:defRPr sz="1875" b="0">
                <a:solidFill>
                  <a:srgbClr val="192C3B"/>
                </a:solidFill>
                <a:latin typeface="DejaVu Sans Mono"/>
                <a:ea typeface="DejaVu Sans Mono"/>
                <a:cs typeface="DejaVu Sans Mono"/>
              </a:defRPr>
            </a:pPr>
            <a:r>
              <a:rPr sz="1875" b="0">
                <a:solidFill>
                  <a:srgbClr val="192C3B"/>
                </a:solidFill>
                <a:latin typeface="DejaVu Sans Mono"/>
                <a:ea typeface="DejaVu Sans Mono"/>
                <a:cs typeface="DejaVu Sans Mono"/>
              </a:rPr>
              <a:t>position = som.winner([1.0, 0.0, 0.0])</a:t>
            </a:r>
          </a:p>
        </p:txBody>
      </p:sp>
      <p:sp>
        <p:nvSpPr>
          <p:cNvPr id="16" name="code-foot">
            <a:extLst xmlns:a="http://schemas.openxmlformats.org/drawingml/2006/main">
              <a:ext uri="{FF2B5EF4-FFF2-40B4-BE49-F238E27FC236}">
                <a16:creationId xmlns:a16="http://schemas.microsoft.com/office/drawing/2014/main" id="{C6B8FA08-BE43-4E40-87E2-E50147E2FD23}"/>
              </a:ext>
            </a:extLst>
          </p:cNvPr>
          <p:cNvSpPr>
            <a:spLocks xmlns:a="http://schemas.openxmlformats.org/drawingml/2006/main" noGrp="1"/>
          </p:cNvSpPr>
          <p:nvPr/>
        </p:nvSpPr>
        <p:spPr>
          <a:xfrm xmlns:a="http://schemas.openxmlformats.org/drawingml/2006/main">
            <a:off x="685800" y="5953125"/>
            <a:ext cx="10820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5D3FA8"/>
                </a:solidFill>
                <a:latin typeface="DejaVu Sans"/>
                <a:ea typeface="DejaVu Sans"/>
                <a:cs typeface="DejaVu Sans"/>
              </a:defRPr>
            </a:defPPr>
            <a:lvl1pPr>
              <a:defRPr sz="1875" b="1">
                <a:solidFill>
                  <a:srgbClr val="5D3FA8"/>
                </a:solidFill>
                <a:latin typeface="DejaVu Sans"/>
                <a:ea typeface="DejaVu Sans"/>
                <a:cs typeface="DejaVu Sans"/>
              </a:defRPr>
            </a:lvl1pPr>
            <a:lvl2pPr>
              <a:defRPr sz="1875" b="1">
                <a:solidFill>
                  <a:srgbClr val="5D3FA8"/>
                </a:solidFill>
                <a:latin typeface="DejaVu Sans"/>
                <a:ea typeface="DejaVu Sans"/>
                <a:cs typeface="DejaVu Sans"/>
              </a:defRPr>
            </a:lvl2pPr>
            <a:lvl3pPr>
              <a:defRPr sz="1875" b="1">
                <a:solidFill>
                  <a:srgbClr val="5D3FA8"/>
                </a:solidFill>
                <a:latin typeface="DejaVu Sans"/>
                <a:ea typeface="DejaVu Sans"/>
                <a:cs typeface="DejaVu Sans"/>
              </a:defRPr>
            </a:lvl3pPr>
            <a:lvl4pPr>
              <a:defRPr sz="1875" b="1">
                <a:solidFill>
                  <a:srgbClr val="5D3FA8"/>
                </a:solidFill>
                <a:latin typeface="DejaVu Sans"/>
                <a:ea typeface="DejaVu Sans"/>
                <a:cs typeface="DejaVu Sans"/>
              </a:defRPr>
            </a:lvl4pPr>
            <a:lvl5pPr>
              <a:defRPr sz="1875" b="1">
                <a:solidFill>
                  <a:srgbClr val="5D3FA8"/>
                </a:solidFill>
                <a:latin typeface="DejaVu Sans"/>
                <a:ea typeface="DejaVu Sans"/>
                <a:cs typeface="DejaVu Sans"/>
              </a:defRPr>
            </a:lvl5pPr>
            <a:lvl6pPr>
              <a:defRPr sz="1875" b="1">
                <a:solidFill>
                  <a:srgbClr val="5D3FA8"/>
                </a:solidFill>
                <a:latin typeface="DejaVu Sans"/>
                <a:ea typeface="DejaVu Sans"/>
                <a:cs typeface="DejaVu Sans"/>
              </a:defRPr>
            </a:lvl6pPr>
            <a:lvl7pPr>
              <a:defRPr sz="1875" b="1">
                <a:solidFill>
                  <a:srgbClr val="5D3FA8"/>
                </a:solidFill>
                <a:latin typeface="DejaVu Sans"/>
                <a:ea typeface="DejaVu Sans"/>
                <a:cs typeface="DejaVu Sans"/>
              </a:defRPr>
            </a:lvl7pPr>
            <a:lvl8pPr>
              <a:defRPr sz="1875" b="1">
                <a:solidFill>
                  <a:srgbClr val="5D3FA8"/>
                </a:solidFill>
                <a:latin typeface="DejaVu Sans"/>
                <a:ea typeface="DejaVu Sans"/>
                <a:cs typeface="DejaVu Sans"/>
              </a:defRPr>
            </a:lvl8pPr>
            <a:lvl9pPr>
              <a:defRPr sz="1875" b="1">
                <a:solidFill>
                  <a:srgbClr val="5D3FA8"/>
                </a:solidFill>
                <a:latin typeface="DejaVu Sans"/>
                <a:ea typeface="DejaVu Sans"/>
                <a:cs typeface="DejaVu Sans"/>
              </a:defRPr>
            </a:lvl9pPr>
          </a:lstStyle>
          <a:p xmlns:a="http://schemas.openxmlformats.org/drawingml/2006/main">
            <a:pPr>
              <a:lnSpc>
                <a:spcPct val="112000"/>
              </a:lnSpc>
              <a:buNone/>
              <a:defRPr sz="1875" b="1">
                <a:solidFill>
                  <a:srgbClr val="5D3FA8"/>
                </a:solidFill>
                <a:latin typeface="DejaVu Sans"/>
                <a:ea typeface="DejaVu Sans"/>
                <a:cs typeface="DejaVu Sans"/>
              </a:defRPr>
            </a:pPr>
            <a:r>
              <a:rPr sz="1875" b="1">
                <a:solidFill>
                  <a:srgbClr val="5D3FA8"/>
                </a:solidFill>
                <a:latin typeface="DejaVu Sans"/>
                <a:ea typeface="DejaVu Sans"/>
                <a:cs typeface="DejaVu Sans"/>
              </a:rPr>
              <a:t>16 x 16 cells, 3 input features, 20,000 training updates</a:t>
            </a:r>
          </a:p>
        </p:txBody>
      </p:sp>
    </p:spTree>
    <p:extLst>
      <p:ext uri="{BB962C8B-B14F-4D97-AF65-F5344CB8AC3E}">
        <p14:creationId xmlns:p14="http://schemas.microsoft.com/office/powerpoint/2010/main" val="5189660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CD5E1980-D817-4578-BA79-F8ABCF5A9BE2}"/>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The map before and after training</a:t>
            </a:r>
          </a:p>
        </p:txBody>
      </p:sp>
      <p:sp>
        <p:nvSpPr>
          <p:cNvPr id="2" name="slide-number">
            <a:extLst xmlns:a="http://schemas.openxmlformats.org/drawingml/2006/main">
              <a:ext uri="{FF2B5EF4-FFF2-40B4-BE49-F238E27FC236}">
                <a16:creationId xmlns:a16="http://schemas.microsoft.com/office/drawing/2014/main" id="{AE3D2181-B71E-41CA-B7DB-888F7E1553F3}"/>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06</a:t>
            </a:r>
          </a:p>
        </p:txBody>
      </p:sp>
      <p:pic>
        <p:nvPicPr>
          <p:cNvPr id="3" name="">
            <a:extLst xmlns:a="http://schemas.openxmlformats.org/drawingml/2006/main">
              <a:ext uri="{FF2B5EF4-FFF2-40B4-BE49-F238E27FC236}">
                <a16:creationId xmlns:a16="http://schemas.microsoft.com/office/drawing/2014/main" id="{D4C879EC-0FF6-4359-82CB-48C16398D619}"/>
              </a:ext>
            </a:extLst>
          </p:cNvPr>
          <p:cNvPicPr>
            <a:picLocks xmlns:a="http://schemas.openxmlformats.org/drawingml/2006/main" noChangeAspect="1"/>
          </p:cNvPicPr>
          <p:nvPr/>
        </p:nvPicPr>
        <p:blipFill>
          <a:blip xmlns:r="http://schemas.openxmlformats.org/officeDocument/2006/relationships" xmlns:a="http://schemas.openxmlformats.org/drawingml/2006/main" r:embed="Rc75e10f4dd84415b"/>
          <a:stretch xmlns:a="http://schemas.openxmlformats.org/drawingml/2006/main"/>
        </p:blipFill>
        <p:spPr>
          <a:xfrm xmlns:a="http://schemas.openxmlformats.org/drawingml/2006/main">
            <a:off x="685800" y="1411287"/>
            <a:ext cx="10820400" cy="4959350"/>
          </a:xfrm>
          <a:prstGeom xmlns:a="http://schemas.openxmlformats.org/drawingml/2006/main" prst="rect">
            <a:avLst/>
          </a:prstGeom>
        </p:spPr>
      </p:pic>
    </p:spTree>
    <p:extLst>
      <p:ext uri="{BB962C8B-B14F-4D97-AF65-F5344CB8AC3E}">
        <p14:creationId xmlns:p14="http://schemas.microsoft.com/office/powerpoint/2010/main" val="8750521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488A08D-0F1B-4A60-9F7A-EC620694777D}"/>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Evaluation on 500 new colors</a:t>
            </a:r>
          </a:p>
        </p:txBody>
      </p:sp>
      <p:sp>
        <p:nvSpPr>
          <p:cNvPr id="2" name="slide-number">
            <a:extLst xmlns:a="http://schemas.openxmlformats.org/drawingml/2006/main">
              <a:ext uri="{FF2B5EF4-FFF2-40B4-BE49-F238E27FC236}">
                <a16:creationId xmlns:a16="http://schemas.microsoft.com/office/drawing/2014/main" id="{4E225C71-7F63-40E9-9348-7F3A8785C70F}"/>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07</a:t>
            </a:r>
          </a:p>
        </p:txBody>
      </p:sp>
      <p:graphicFrame>
        <p:nvGraphicFramePr>
          <p:cNvPr id="3" name="Chart">
            <a:extLst xmlns:a="http://schemas.openxmlformats.org/drawingml/2006/main">
              <a:ext uri="{FF2B5EF4-FFF2-40B4-BE49-F238E27FC236}">
                <a16:creationId xmlns:a16="http://schemas.microsoft.com/office/drawing/2014/main" id="{F1C174DC-BAA5-42FD-8E18-D55F65431FA1}"/>
              </a:ext>
            </a:extLst>
          </p:cNvPr>
          <p:cNvGraphicFramePr/>
          <p:nvPr/>
        </p:nvGraphicFramePr>
        <p:xfrm>
          <a:off xmlns:a="http://schemas.openxmlformats.org/drawingml/2006/main" x="590550" y="1647825"/>
          <a:ext xmlns:a="http://schemas.openxmlformats.org/drawingml/2006/main" cx="6905625" cy="3609975"/>
        </p:xfrm>
        <a:graphic xmlns:a="http://schemas.openxmlformats.org/drawingml/2006/main">
          <a:graphicData uri="http://schemas.openxmlformats.org/drawingml/2006/chart">
            <c:chart xmlns:r="http://schemas.openxmlformats.org/officeDocument/2006/relationships" xmlns:c="http://schemas.openxmlformats.org/drawingml/2006/chart" r:id="R0ea5ec749d834e0d"/>
          </a:graphicData>
        </a:graphic>
      </p:graphicFrame>
      <p:sp>
        <p:nvSpPr>
          <p:cNvPr id="4" name="error-number">
            <a:extLst xmlns:a="http://schemas.openxmlformats.org/drawingml/2006/main">
              <a:ext uri="{FF2B5EF4-FFF2-40B4-BE49-F238E27FC236}">
                <a16:creationId xmlns:a16="http://schemas.microsoft.com/office/drawing/2014/main" id="{92EF2F38-35A1-4899-AFEC-910271AE50A0}"/>
              </a:ext>
            </a:extLst>
          </p:cNvPr>
          <p:cNvSpPr>
            <a:spLocks xmlns:a="http://schemas.openxmlformats.org/drawingml/2006/main" noGrp="1"/>
          </p:cNvSpPr>
          <p:nvPr/>
        </p:nvSpPr>
        <p:spPr>
          <a:xfrm xmlns:a="http://schemas.openxmlformats.org/drawingml/2006/main">
            <a:off x="7972425" y="1790700"/>
            <a:ext cx="35337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5D3FA8"/>
                </a:solidFill>
                <a:latin typeface="DejaVu Sans"/>
                <a:ea typeface="DejaVu Sans"/>
                <a:cs typeface="DejaVu Sans"/>
              </a:defRPr>
            </a:defPPr>
            <a:lvl1pPr>
              <a:defRPr sz="5700" b="1">
                <a:solidFill>
                  <a:srgbClr val="5D3FA8"/>
                </a:solidFill>
                <a:latin typeface="DejaVu Sans"/>
                <a:ea typeface="DejaVu Sans"/>
                <a:cs typeface="DejaVu Sans"/>
              </a:defRPr>
            </a:lvl1pPr>
            <a:lvl2pPr>
              <a:defRPr sz="5700" b="1">
                <a:solidFill>
                  <a:srgbClr val="5D3FA8"/>
                </a:solidFill>
                <a:latin typeface="DejaVu Sans"/>
                <a:ea typeface="DejaVu Sans"/>
                <a:cs typeface="DejaVu Sans"/>
              </a:defRPr>
            </a:lvl2pPr>
            <a:lvl3pPr>
              <a:defRPr sz="5700" b="1">
                <a:solidFill>
                  <a:srgbClr val="5D3FA8"/>
                </a:solidFill>
                <a:latin typeface="DejaVu Sans"/>
                <a:ea typeface="DejaVu Sans"/>
                <a:cs typeface="DejaVu Sans"/>
              </a:defRPr>
            </a:lvl3pPr>
            <a:lvl4pPr>
              <a:defRPr sz="5700" b="1">
                <a:solidFill>
                  <a:srgbClr val="5D3FA8"/>
                </a:solidFill>
                <a:latin typeface="DejaVu Sans"/>
                <a:ea typeface="DejaVu Sans"/>
                <a:cs typeface="DejaVu Sans"/>
              </a:defRPr>
            </a:lvl4pPr>
            <a:lvl5pPr>
              <a:defRPr sz="5700" b="1">
                <a:solidFill>
                  <a:srgbClr val="5D3FA8"/>
                </a:solidFill>
                <a:latin typeface="DejaVu Sans"/>
                <a:ea typeface="DejaVu Sans"/>
                <a:cs typeface="DejaVu Sans"/>
              </a:defRPr>
            </a:lvl5pPr>
            <a:lvl6pPr>
              <a:defRPr sz="5700" b="1">
                <a:solidFill>
                  <a:srgbClr val="5D3FA8"/>
                </a:solidFill>
                <a:latin typeface="DejaVu Sans"/>
                <a:ea typeface="DejaVu Sans"/>
                <a:cs typeface="DejaVu Sans"/>
              </a:defRPr>
            </a:lvl6pPr>
            <a:lvl7pPr>
              <a:defRPr sz="5700" b="1">
                <a:solidFill>
                  <a:srgbClr val="5D3FA8"/>
                </a:solidFill>
                <a:latin typeface="DejaVu Sans"/>
                <a:ea typeface="DejaVu Sans"/>
                <a:cs typeface="DejaVu Sans"/>
              </a:defRPr>
            </a:lvl7pPr>
            <a:lvl8pPr>
              <a:defRPr sz="5700" b="1">
                <a:solidFill>
                  <a:srgbClr val="5D3FA8"/>
                </a:solidFill>
                <a:latin typeface="DejaVu Sans"/>
                <a:ea typeface="DejaVu Sans"/>
                <a:cs typeface="DejaVu Sans"/>
              </a:defRPr>
            </a:lvl8pPr>
            <a:lvl9pPr>
              <a:defRPr sz="5700" b="1">
                <a:solidFill>
                  <a:srgbClr val="5D3FA8"/>
                </a:solidFill>
                <a:latin typeface="DejaVu Sans"/>
                <a:ea typeface="DejaVu Sans"/>
                <a:cs typeface="DejaVu Sans"/>
              </a:defRPr>
            </a:lvl9pPr>
          </a:lstStyle>
          <a:p xmlns:a="http://schemas.openxmlformats.org/drawingml/2006/main">
            <a:pPr>
              <a:lnSpc>
                <a:spcPct val="112000"/>
              </a:lnSpc>
              <a:buNone/>
              <a:defRPr sz="5700" b="1">
                <a:solidFill>
                  <a:srgbClr val="5D3FA8"/>
                </a:solidFill>
                <a:latin typeface="DejaVu Sans"/>
                <a:ea typeface="DejaVu Sans"/>
                <a:cs typeface="DejaVu Sans"/>
              </a:defRPr>
            </a:pPr>
            <a:r>
              <a:rPr sz="5700" b="1">
                <a:solidFill>
                  <a:srgbClr val="5D3FA8"/>
                </a:solidFill>
                <a:latin typeface="DejaVu Sans"/>
                <a:ea typeface="DejaVu Sans"/>
                <a:cs typeface="DejaVu Sans"/>
              </a:rPr>
              <a:t>9.2%</a:t>
            </a:r>
          </a:p>
        </p:txBody>
      </p:sp>
      <p:sp>
        <p:nvSpPr>
          <p:cNvPr id="5" name="error-meaning">
            <a:extLst xmlns:a="http://schemas.openxmlformats.org/drawingml/2006/main">
              <a:ext uri="{FF2B5EF4-FFF2-40B4-BE49-F238E27FC236}">
                <a16:creationId xmlns:a16="http://schemas.microsoft.com/office/drawing/2014/main" id="{7D60CE93-2785-46C0-A8C4-F1904C66CF77}"/>
              </a:ext>
            </a:extLst>
          </p:cNvPr>
          <p:cNvSpPr>
            <a:spLocks xmlns:a="http://schemas.openxmlformats.org/drawingml/2006/main" noGrp="1"/>
          </p:cNvSpPr>
          <p:nvPr/>
        </p:nvSpPr>
        <p:spPr>
          <a:xfrm xmlns:a="http://schemas.openxmlformats.org/drawingml/2006/main">
            <a:off x="7972425" y="2962275"/>
            <a:ext cx="35337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92C3B"/>
                </a:solidFill>
                <a:latin typeface="DejaVu Sans"/>
                <a:ea typeface="DejaVu Sans"/>
                <a:cs typeface="DejaVu Sans"/>
              </a:defRPr>
            </a:defPPr>
            <a:lvl1pPr>
              <a:defRPr sz="2250" b="1">
                <a:solidFill>
                  <a:srgbClr val="192C3B"/>
                </a:solidFill>
                <a:latin typeface="DejaVu Sans"/>
                <a:ea typeface="DejaVu Sans"/>
                <a:cs typeface="DejaVu Sans"/>
              </a:defRPr>
            </a:lvl1pPr>
            <a:lvl2pPr>
              <a:defRPr sz="2250" b="1">
                <a:solidFill>
                  <a:srgbClr val="192C3B"/>
                </a:solidFill>
                <a:latin typeface="DejaVu Sans"/>
                <a:ea typeface="DejaVu Sans"/>
                <a:cs typeface="DejaVu Sans"/>
              </a:defRPr>
            </a:lvl2pPr>
            <a:lvl3pPr>
              <a:defRPr sz="2250" b="1">
                <a:solidFill>
                  <a:srgbClr val="192C3B"/>
                </a:solidFill>
                <a:latin typeface="DejaVu Sans"/>
                <a:ea typeface="DejaVu Sans"/>
                <a:cs typeface="DejaVu Sans"/>
              </a:defRPr>
            </a:lvl3pPr>
            <a:lvl4pPr>
              <a:defRPr sz="2250" b="1">
                <a:solidFill>
                  <a:srgbClr val="192C3B"/>
                </a:solidFill>
                <a:latin typeface="DejaVu Sans"/>
                <a:ea typeface="DejaVu Sans"/>
                <a:cs typeface="DejaVu Sans"/>
              </a:defRPr>
            </a:lvl4pPr>
            <a:lvl5pPr>
              <a:defRPr sz="2250" b="1">
                <a:solidFill>
                  <a:srgbClr val="192C3B"/>
                </a:solidFill>
                <a:latin typeface="DejaVu Sans"/>
                <a:ea typeface="DejaVu Sans"/>
                <a:cs typeface="DejaVu Sans"/>
              </a:defRPr>
            </a:lvl5pPr>
            <a:lvl6pPr>
              <a:defRPr sz="2250" b="1">
                <a:solidFill>
                  <a:srgbClr val="192C3B"/>
                </a:solidFill>
                <a:latin typeface="DejaVu Sans"/>
                <a:ea typeface="DejaVu Sans"/>
                <a:cs typeface="DejaVu Sans"/>
              </a:defRPr>
            </a:lvl6pPr>
            <a:lvl7pPr>
              <a:defRPr sz="2250" b="1">
                <a:solidFill>
                  <a:srgbClr val="192C3B"/>
                </a:solidFill>
                <a:latin typeface="DejaVu Sans"/>
                <a:ea typeface="DejaVu Sans"/>
                <a:cs typeface="DejaVu Sans"/>
              </a:defRPr>
            </a:lvl7pPr>
            <a:lvl8pPr>
              <a:defRPr sz="2250" b="1">
                <a:solidFill>
                  <a:srgbClr val="192C3B"/>
                </a:solidFill>
                <a:latin typeface="DejaVu Sans"/>
                <a:ea typeface="DejaVu Sans"/>
                <a:cs typeface="DejaVu Sans"/>
              </a:defRPr>
            </a:lvl8pPr>
            <a:lvl9pPr>
              <a:defRPr sz="2250" b="1">
                <a:solidFill>
                  <a:srgbClr val="192C3B"/>
                </a:solidFill>
                <a:latin typeface="DejaVu Sans"/>
                <a:ea typeface="DejaVu Sans"/>
                <a:cs typeface="DejaVu Sans"/>
              </a:defRPr>
            </a:lvl9pPr>
          </a:lstStyle>
          <a:p xmlns:a="http://schemas.openxmlformats.org/drawingml/2006/main">
            <a:pPr>
              <a:lnSpc>
                <a:spcPct val="112000"/>
              </a:lnSpc>
              <a:buNone/>
              <a:defRPr sz="2250" b="1">
                <a:solidFill>
                  <a:srgbClr val="192C3B"/>
                </a:solidFill>
                <a:latin typeface="DejaVu Sans"/>
                <a:ea typeface="DejaVu Sans"/>
                <a:cs typeface="DejaVu Sans"/>
              </a:defRPr>
            </a:pPr>
            <a:r>
              <a:rPr sz="2250" b="1">
                <a:solidFill>
                  <a:srgbClr val="192C3B"/>
                </a:solidFill>
                <a:latin typeface="DejaVu Sans"/>
                <a:ea typeface="DejaVu Sans"/>
                <a:cs typeface="DejaVu Sans"/>
              </a:rPr>
              <a:t>Topographic error</a:t>
            </a:r>
          </a:p>
          <a:p xmlns:a="http://schemas.openxmlformats.org/drawingml/2006/main">
            <a:pPr>
              <a:lnSpc>
                <a:spcPct val="112000"/>
              </a:lnSpc>
              <a:buNone/>
              <a:defRPr sz="2250" b="1">
                <a:solidFill>
                  <a:srgbClr val="192C3B"/>
                </a:solidFill>
                <a:latin typeface="DejaVu Sans"/>
                <a:ea typeface="DejaVu Sans"/>
                <a:cs typeface="DejaVu Sans"/>
              </a:defRPr>
            </a:pPr>
            <a:r>
              <a:rPr sz="2250" b="1">
                <a:solidFill>
                  <a:srgbClr val="192C3B"/>
                </a:solidFill>
                <a:latin typeface="DejaVu Sans"/>
                <a:ea typeface="DejaVu Sans"/>
                <a:cs typeface="DejaVu Sans"/>
              </a:rPr>
              <a:t>after training</a:t>
            </a:r>
          </a:p>
        </p:txBody>
      </p:sp>
      <p:sp>
        <p:nvSpPr>
          <p:cNvPr id="6" name="metric-explanation">
            <a:extLst xmlns:a="http://schemas.openxmlformats.org/drawingml/2006/main">
              <a:ext uri="{FF2B5EF4-FFF2-40B4-BE49-F238E27FC236}">
                <a16:creationId xmlns:a16="http://schemas.microsoft.com/office/drawing/2014/main" id="{F0ADD7D0-40E0-4F67-99A0-80B63124700A}"/>
              </a:ext>
            </a:extLst>
          </p:cNvPr>
          <p:cNvSpPr>
            <a:spLocks xmlns:a="http://schemas.openxmlformats.org/drawingml/2006/main" noGrp="1"/>
          </p:cNvSpPr>
          <p:nvPr/>
        </p:nvSpPr>
        <p:spPr>
          <a:xfrm xmlns:a="http://schemas.openxmlformats.org/drawingml/2006/main">
            <a:off x="7972425" y="4200525"/>
            <a:ext cx="35337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16573"/>
                </a:solidFill>
                <a:latin typeface="DejaVu Sans"/>
                <a:ea typeface="DejaVu Sans"/>
                <a:cs typeface="DejaVu Sans"/>
              </a:defRPr>
            </a:defPPr>
            <a:lvl1pPr>
              <a:defRPr sz="1875" b="0">
                <a:solidFill>
                  <a:srgbClr val="516573"/>
                </a:solidFill>
                <a:latin typeface="DejaVu Sans"/>
                <a:ea typeface="DejaVu Sans"/>
                <a:cs typeface="DejaVu Sans"/>
              </a:defRPr>
            </a:lvl1pPr>
            <a:lvl2pPr>
              <a:defRPr sz="1875" b="0">
                <a:solidFill>
                  <a:srgbClr val="516573"/>
                </a:solidFill>
                <a:latin typeface="DejaVu Sans"/>
                <a:ea typeface="DejaVu Sans"/>
                <a:cs typeface="DejaVu Sans"/>
              </a:defRPr>
            </a:lvl2pPr>
            <a:lvl3pPr>
              <a:defRPr sz="1875" b="0">
                <a:solidFill>
                  <a:srgbClr val="516573"/>
                </a:solidFill>
                <a:latin typeface="DejaVu Sans"/>
                <a:ea typeface="DejaVu Sans"/>
                <a:cs typeface="DejaVu Sans"/>
              </a:defRPr>
            </a:lvl3pPr>
            <a:lvl4pPr>
              <a:defRPr sz="1875" b="0">
                <a:solidFill>
                  <a:srgbClr val="516573"/>
                </a:solidFill>
                <a:latin typeface="DejaVu Sans"/>
                <a:ea typeface="DejaVu Sans"/>
                <a:cs typeface="DejaVu Sans"/>
              </a:defRPr>
            </a:lvl4pPr>
            <a:lvl5pPr>
              <a:defRPr sz="1875" b="0">
                <a:solidFill>
                  <a:srgbClr val="516573"/>
                </a:solidFill>
                <a:latin typeface="DejaVu Sans"/>
                <a:ea typeface="DejaVu Sans"/>
                <a:cs typeface="DejaVu Sans"/>
              </a:defRPr>
            </a:lvl5pPr>
            <a:lvl6pPr>
              <a:defRPr sz="1875" b="0">
                <a:solidFill>
                  <a:srgbClr val="516573"/>
                </a:solidFill>
                <a:latin typeface="DejaVu Sans"/>
                <a:ea typeface="DejaVu Sans"/>
                <a:cs typeface="DejaVu Sans"/>
              </a:defRPr>
            </a:lvl6pPr>
            <a:lvl7pPr>
              <a:defRPr sz="1875" b="0">
                <a:solidFill>
                  <a:srgbClr val="516573"/>
                </a:solidFill>
                <a:latin typeface="DejaVu Sans"/>
                <a:ea typeface="DejaVu Sans"/>
                <a:cs typeface="DejaVu Sans"/>
              </a:defRPr>
            </a:lvl7pPr>
            <a:lvl8pPr>
              <a:defRPr sz="1875" b="0">
                <a:solidFill>
                  <a:srgbClr val="516573"/>
                </a:solidFill>
                <a:latin typeface="DejaVu Sans"/>
                <a:ea typeface="DejaVu Sans"/>
                <a:cs typeface="DejaVu Sans"/>
              </a:defRPr>
            </a:lvl8pPr>
            <a:lvl9pPr>
              <a:defRPr sz="1875" b="0">
                <a:solidFill>
                  <a:srgbClr val="516573"/>
                </a:solidFill>
                <a:latin typeface="DejaVu Sans"/>
                <a:ea typeface="DejaVu Sans"/>
                <a:cs typeface="DejaVu Sans"/>
              </a:defRPr>
            </a:lvl9pPr>
          </a:lstStyle>
          <a:p xmlns:a="http://schemas.openxmlformats.org/drawingml/2006/main">
            <a:pPr>
              <a:lnSpc>
                <a:spcPct val="112000"/>
              </a:lnSpc>
              <a:buNone/>
              <a:defRPr sz="1875" b="0">
                <a:solidFill>
                  <a:srgbClr val="516573"/>
                </a:solidFill>
                <a:latin typeface="DejaVu Sans"/>
                <a:ea typeface="DejaVu Sans"/>
                <a:cs typeface="DejaVu Sans"/>
              </a:defRPr>
            </a:pPr>
            <a:r>
              <a:rPr sz="1875" b="0">
                <a:solidFill>
                  <a:srgbClr val="516573"/>
                </a:solidFill>
                <a:latin typeface="DejaVu Sans"/>
                <a:ea typeface="DejaVu Sans"/>
                <a:cs typeface="DejaVu Sans"/>
              </a:rPr>
              <a:t>Measures neighborhood</a:t>
            </a:r>
          </a:p>
          <a:p xmlns:a="http://schemas.openxmlformats.org/drawingml/2006/main">
            <a:pPr>
              <a:lnSpc>
                <a:spcPct val="112000"/>
              </a:lnSpc>
              <a:buNone/>
              <a:defRPr sz="1875" b="0">
                <a:solidFill>
                  <a:srgbClr val="516573"/>
                </a:solidFill>
                <a:latin typeface="DejaVu Sans"/>
                <a:ea typeface="DejaVu Sans"/>
                <a:cs typeface="DejaVu Sans"/>
              </a:defRPr>
            </a:pPr>
            <a:r>
              <a:rPr sz="1875" b="0">
                <a:solidFill>
                  <a:srgbClr val="516573"/>
                </a:solidFill>
                <a:latin typeface="DejaVu Sans"/>
                <a:ea typeface="DejaVu Sans"/>
                <a:cs typeface="DejaVu Sans"/>
              </a:rPr>
              <a:t>consistency on the grid</a:t>
            </a:r>
          </a:p>
          <a:p xmlns:a="http://schemas.openxmlformats.org/drawingml/2006/main">
            <a:r>
              <a:t/>
            </a:r>
          </a:p>
          <a:p xmlns:a="http://schemas.openxmlformats.org/drawingml/2006/main">
            <a:pPr>
              <a:lnSpc>
                <a:spcPct val="112000"/>
              </a:lnSpc>
              <a:buNone/>
              <a:defRPr sz="1875" b="0">
                <a:solidFill>
                  <a:srgbClr val="516573"/>
                </a:solidFill>
                <a:latin typeface="DejaVu Sans"/>
                <a:ea typeface="DejaVu Sans"/>
                <a:cs typeface="DejaVu Sans"/>
              </a:defRPr>
            </a:pPr>
            <a:r>
              <a:rPr sz="1875" b="0">
                <a:solidFill>
                  <a:srgbClr val="516573"/>
                </a:solidFill>
                <a:latin typeface="DejaVu Sans"/>
                <a:ea typeface="DejaVu Sans"/>
                <a:cs typeface="DejaVu Sans"/>
              </a:rPr>
              <a:t>Lower is better.</a:t>
            </a:r>
          </a:p>
        </p:txBody>
      </p:sp>
      <p:sp>
        <p:nvSpPr>
          <p:cNvPr id="7" name="qe">
            <a:extLst xmlns:a="http://schemas.openxmlformats.org/drawingml/2006/main">
              <a:ext uri="{FF2B5EF4-FFF2-40B4-BE49-F238E27FC236}">
                <a16:creationId xmlns:a16="http://schemas.microsoft.com/office/drawing/2014/main" id="{53B7A87A-DCC7-4346-833A-E233257D54F9}"/>
              </a:ext>
            </a:extLst>
          </p:cNvPr>
          <p:cNvSpPr>
            <a:spLocks xmlns:a="http://schemas.openxmlformats.org/drawingml/2006/main" noGrp="1"/>
          </p:cNvSpPr>
          <p:nvPr/>
        </p:nvSpPr>
        <p:spPr>
          <a:xfrm xmlns:a="http://schemas.openxmlformats.org/drawingml/2006/main">
            <a:off x="685800" y="558165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087F80"/>
                </a:solidFill>
                <a:latin typeface="DejaVu Sans"/>
                <a:ea typeface="DejaVu Sans"/>
                <a:cs typeface="DejaVu Sans"/>
              </a:defRPr>
            </a:defPPr>
            <a:lvl1pPr>
              <a:defRPr sz="1875" b="0">
                <a:solidFill>
                  <a:srgbClr val="087F80"/>
                </a:solidFill>
                <a:latin typeface="DejaVu Sans"/>
                <a:ea typeface="DejaVu Sans"/>
                <a:cs typeface="DejaVu Sans"/>
              </a:defRPr>
            </a:lvl1pPr>
            <a:lvl2pPr>
              <a:defRPr sz="1875" b="0">
                <a:solidFill>
                  <a:srgbClr val="087F80"/>
                </a:solidFill>
                <a:latin typeface="DejaVu Sans"/>
                <a:ea typeface="DejaVu Sans"/>
                <a:cs typeface="DejaVu Sans"/>
              </a:defRPr>
            </a:lvl2pPr>
            <a:lvl3pPr>
              <a:defRPr sz="1875" b="0">
                <a:solidFill>
                  <a:srgbClr val="087F80"/>
                </a:solidFill>
                <a:latin typeface="DejaVu Sans"/>
                <a:ea typeface="DejaVu Sans"/>
                <a:cs typeface="DejaVu Sans"/>
              </a:defRPr>
            </a:lvl3pPr>
            <a:lvl4pPr>
              <a:defRPr sz="1875" b="0">
                <a:solidFill>
                  <a:srgbClr val="087F80"/>
                </a:solidFill>
                <a:latin typeface="DejaVu Sans"/>
                <a:ea typeface="DejaVu Sans"/>
                <a:cs typeface="DejaVu Sans"/>
              </a:defRPr>
            </a:lvl4pPr>
            <a:lvl5pPr>
              <a:defRPr sz="1875" b="0">
                <a:solidFill>
                  <a:srgbClr val="087F80"/>
                </a:solidFill>
                <a:latin typeface="DejaVu Sans"/>
                <a:ea typeface="DejaVu Sans"/>
                <a:cs typeface="DejaVu Sans"/>
              </a:defRPr>
            </a:lvl5pPr>
            <a:lvl6pPr>
              <a:defRPr sz="1875" b="0">
                <a:solidFill>
                  <a:srgbClr val="087F80"/>
                </a:solidFill>
                <a:latin typeface="DejaVu Sans"/>
                <a:ea typeface="DejaVu Sans"/>
                <a:cs typeface="DejaVu Sans"/>
              </a:defRPr>
            </a:lvl6pPr>
            <a:lvl7pPr>
              <a:defRPr sz="1875" b="0">
                <a:solidFill>
                  <a:srgbClr val="087F80"/>
                </a:solidFill>
                <a:latin typeface="DejaVu Sans"/>
                <a:ea typeface="DejaVu Sans"/>
                <a:cs typeface="DejaVu Sans"/>
              </a:defRPr>
            </a:lvl7pPr>
            <a:lvl8pPr>
              <a:defRPr sz="1875" b="0">
                <a:solidFill>
                  <a:srgbClr val="087F80"/>
                </a:solidFill>
                <a:latin typeface="DejaVu Sans"/>
                <a:ea typeface="DejaVu Sans"/>
                <a:cs typeface="DejaVu Sans"/>
              </a:defRPr>
            </a:lvl8pPr>
            <a:lvl9pPr>
              <a:defRPr sz="1875" b="0">
                <a:solidFill>
                  <a:srgbClr val="087F80"/>
                </a:solidFill>
                <a:latin typeface="DejaVu Sans"/>
                <a:ea typeface="DejaVu Sans"/>
                <a:cs typeface="DejaVu Sans"/>
              </a:defRPr>
            </a:lvl9pPr>
          </a:lstStyle>
          <a:p xmlns:a="http://schemas.openxmlformats.org/drawingml/2006/main">
            <a:pPr>
              <a:lnSpc>
                <a:spcPct val="112000"/>
              </a:lnSpc>
              <a:buNone/>
              <a:defRPr sz="1875" b="0">
                <a:solidFill>
                  <a:srgbClr val="087F80"/>
                </a:solidFill>
                <a:latin typeface="DejaVu Sans"/>
                <a:ea typeface="DejaVu Sans"/>
                <a:cs typeface="DejaVu Sans"/>
              </a:defRPr>
            </a:pPr>
            <a:r>
              <a:rPr sz="1875" b="0">
                <a:solidFill>
                  <a:srgbClr val="087F80"/>
                </a:solidFill>
                <a:latin typeface="DejaVu Sans"/>
                <a:ea typeface="DejaVu Sans"/>
                <a:cs typeface="DejaVu Sans"/>
              </a:rPr>
              <a:t>Mean RGB reconstruction distance: 0.0962 before, 0.0918 after</a:t>
            </a:r>
          </a:p>
        </p:txBody>
      </p:sp>
      <p:sp>
        <p:nvSpPr>
          <p:cNvPr id="8" name="run-scope">
            <a:extLst xmlns:a="http://schemas.openxmlformats.org/drawingml/2006/main">
              <a:ext uri="{FF2B5EF4-FFF2-40B4-BE49-F238E27FC236}">
                <a16:creationId xmlns:a16="http://schemas.microsoft.com/office/drawing/2014/main" id="{C0CA341D-A789-407D-BA98-182A19BDC161}"/>
              </a:ext>
            </a:extLst>
          </p:cNvPr>
          <p:cNvSpPr>
            <a:spLocks xmlns:a="http://schemas.openxmlformats.org/drawingml/2006/main" noGrp="1"/>
          </p:cNvSpPr>
          <p:nvPr/>
        </p:nvSpPr>
        <p:spPr>
          <a:xfrm xmlns:a="http://schemas.openxmlformats.org/drawingml/2006/main">
            <a:off x="685800" y="6096000"/>
            <a:ext cx="10820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16573"/>
                </a:solidFill>
                <a:latin typeface="DejaVu Sans"/>
                <a:ea typeface="DejaVu Sans"/>
                <a:cs typeface="DejaVu Sans"/>
              </a:defRPr>
            </a:defPPr>
            <a:lvl1pPr>
              <a:defRPr sz="1650" b="0">
                <a:solidFill>
                  <a:srgbClr val="516573"/>
                </a:solidFill>
                <a:latin typeface="DejaVu Sans"/>
                <a:ea typeface="DejaVu Sans"/>
                <a:cs typeface="DejaVu Sans"/>
              </a:defRPr>
            </a:lvl1pPr>
            <a:lvl2pPr>
              <a:defRPr sz="1650" b="0">
                <a:solidFill>
                  <a:srgbClr val="516573"/>
                </a:solidFill>
                <a:latin typeface="DejaVu Sans"/>
                <a:ea typeface="DejaVu Sans"/>
                <a:cs typeface="DejaVu Sans"/>
              </a:defRPr>
            </a:lvl2pPr>
            <a:lvl3pPr>
              <a:defRPr sz="1650" b="0">
                <a:solidFill>
                  <a:srgbClr val="516573"/>
                </a:solidFill>
                <a:latin typeface="DejaVu Sans"/>
                <a:ea typeface="DejaVu Sans"/>
                <a:cs typeface="DejaVu Sans"/>
              </a:defRPr>
            </a:lvl3pPr>
            <a:lvl4pPr>
              <a:defRPr sz="1650" b="0">
                <a:solidFill>
                  <a:srgbClr val="516573"/>
                </a:solidFill>
                <a:latin typeface="DejaVu Sans"/>
                <a:ea typeface="DejaVu Sans"/>
                <a:cs typeface="DejaVu Sans"/>
              </a:defRPr>
            </a:lvl4pPr>
            <a:lvl5pPr>
              <a:defRPr sz="1650" b="0">
                <a:solidFill>
                  <a:srgbClr val="516573"/>
                </a:solidFill>
                <a:latin typeface="DejaVu Sans"/>
                <a:ea typeface="DejaVu Sans"/>
                <a:cs typeface="DejaVu Sans"/>
              </a:defRPr>
            </a:lvl5pPr>
            <a:lvl6pPr>
              <a:defRPr sz="1650" b="0">
                <a:solidFill>
                  <a:srgbClr val="516573"/>
                </a:solidFill>
                <a:latin typeface="DejaVu Sans"/>
                <a:ea typeface="DejaVu Sans"/>
                <a:cs typeface="DejaVu Sans"/>
              </a:defRPr>
            </a:lvl6pPr>
            <a:lvl7pPr>
              <a:defRPr sz="1650" b="0">
                <a:solidFill>
                  <a:srgbClr val="516573"/>
                </a:solidFill>
                <a:latin typeface="DejaVu Sans"/>
                <a:ea typeface="DejaVu Sans"/>
                <a:cs typeface="DejaVu Sans"/>
              </a:defRPr>
            </a:lvl7pPr>
            <a:lvl8pPr>
              <a:defRPr sz="1650" b="0">
                <a:solidFill>
                  <a:srgbClr val="516573"/>
                </a:solidFill>
                <a:latin typeface="DejaVu Sans"/>
                <a:ea typeface="DejaVu Sans"/>
                <a:cs typeface="DejaVu Sans"/>
              </a:defRPr>
            </a:lvl8pPr>
            <a:lvl9pPr>
              <a:defRPr sz="1650" b="0">
                <a:solidFill>
                  <a:srgbClr val="516573"/>
                </a:solidFill>
                <a:latin typeface="DejaVu Sans"/>
                <a:ea typeface="DejaVu Sans"/>
                <a:cs typeface="DejaVu Sans"/>
              </a:defRPr>
            </a:lvl9pPr>
          </a:lstStyle>
          <a:p xmlns:a="http://schemas.openxmlformats.org/drawingml/2006/main">
            <a:pPr>
              <a:lnSpc>
                <a:spcPct val="112000"/>
              </a:lnSpc>
              <a:buNone/>
              <a:defRPr sz="1650" b="0">
                <a:solidFill>
                  <a:srgbClr val="516573"/>
                </a:solidFill>
                <a:latin typeface="DejaVu Sans"/>
                <a:ea typeface="DejaVu Sans"/>
                <a:cs typeface="DejaVu Sans"/>
              </a:defRPr>
            </a:pPr>
            <a:r>
              <a:rPr sz="1650" b="0">
                <a:solidFill>
                  <a:srgbClr val="516573"/>
                </a:solidFill>
                <a:latin typeface="DejaVu Sans"/>
                <a:ea typeface="DejaVu Sans"/>
                <a:cs typeface="DejaVu Sans"/>
              </a:rPr>
              <a:t>One demonstration run, using the same 500 evaluation colors</a:t>
            </a:r>
          </a:p>
        </p:txBody>
      </p:sp>
    </p:spTree>
    <p:extLst>
      <p:ext uri="{BB962C8B-B14F-4D97-AF65-F5344CB8AC3E}">
        <p14:creationId xmlns:p14="http://schemas.microsoft.com/office/powerpoint/2010/main" val="21431574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E1CC087-F404-4A2A-B290-4CFB81338422}"/>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Uses and limitations</a:t>
            </a:r>
          </a:p>
        </p:txBody>
      </p:sp>
      <p:sp>
        <p:nvSpPr>
          <p:cNvPr id="2" name="slide-number">
            <a:extLst xmlns:a="http://schemas.openxmlformats.org/drawingml/2006/main">
              <a:ext uri="{FF2B5EF4-FFF2-40B4-BE49-F238E27FC236}">
                <a16:creationId xmlns:a16="http://schemas.microsoft.com/office/drawing/2014/main" id="{4B0A841E-C25A-433B-A224-C0A847647130}"/>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08</a:t>
            </a:r>
          </a:p>
        </p:txBody>
      </p:sp>
      <p:sp>
        <p:nvSpPr>
          <p:cNvPr id="3" name="uses-title">
            <a:extLst xmlns:a="http://schemas.openxmlformats.org/drawingml/2006/main">
              <a:ext uri="{FF2B5EF4-FFF2-40B4-BE49-F238E27FC236}">
                <a16:creationId xmlns:a16="http://schemas.microsoft.com/office/drawing/2014/main" id="{C5BE389D-8CE7-45F6-A4FD-4A76CA9AFF08}"/>
              </a:ext>
            </a:extLst>
          </p:cNvPr>
          <p:cNvSpPr>
            <a:spLocks xmlns:a="http://schemas.openxmlformats.org/drawingml/2006/main" noGrp="1"/>
          </p:cNvSpPr>
          <p:nvPr/>
        </p:nvSpPr>
        <p:spPr>
          <a:xfrm xmlns:a="http://schemas.openxmlformats.org/drawingml/2006/main">
            <a:off x="685800" y="1657350"/>
            <a:ext cx="471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087F80"/>
                </a:solidFill>
                <a:latin typeface="DejaVu Sans"/>
                <a:ea typeface="DejaVu Sans"/>
                <a:cs typeface="DejaVu Sans"/>
              </a:defRPr>
            </a:defPPr>
            <a:lvl1pPr>
              <a:defRPr sz="2475" b="1">
                <a:solidFill>
                  <a:srgbClr val="087F80"/>
                </a:solidFill>
                <a:latin typeface="DejaVu Sans"/>
                <a:ea typeface="DejaVu Sans"/>
                <a:cs typeface="DejaVu Sans"/>
              </a:defRPr>
            </a:lvl1pPr>
            <a:lvl2pPr>
              <a:defRPr sz="2475" b="1">
                <a:solidFill>
                  <a:srgbClr val="087F80"/>
                </a:solidFill>
                <a:latin typeface="DejaVu Sans"/>
                <a:ea typeface="DejaVu Sans"/>
                <a:cs typeface="DejaVu Sans"/>
              </a:defRPr>
            </a:lvl2pPr>
            <a:lvl3pPr>
              <a:defRPr sz="2475" b="1">
                <a:solidFill>
                  <a:srgbClr val="087F80"/>
                </a:solidFill>
                <a:latin typeface="DejaVu Sans"/>
                <a:ea typeface="DejaVu Sans"/>
                <a:cs typeface="DejaVu Sans"/>
              </a:defRPr>
            </a:lvl3pPr>
            <a:lvl4pPr>
              <a:defRPr sz="2475" b="1">
                <a:solidFill>
                  <a:srgbClr val="087F80"/>
                </a:solidFill>
                <a:latin typeface="DejaVu Sans"/>
                <a:ea typeface="DejaVu Sans"/>
                <a:cs typeface="DejaVu Sans"/>
              </a:defRPr>
            </a:lvl4pPr>
            <a:lvl5pPr>
              <a:defRPr sz="2475" b="1">
                <a:solidFill>
                  <a:srgbClr val="087F80"/>
                </a:solidFill>
                <a:latin typeface="DejaVu Sans"/>
                <a:ea typeface="DejaVu Sans"/>
                <a:cs typeface="DejaVu Sans"/>
              </a:defRPr>
            </a:lvl5pPr>
            <a:lvl6pPr>
              <a:defRPr sz="2475" b="1">
                <a:solidFill>
                  <a:srgbClr val="087F80"/>
                </a:solidFill>
                <a:latin typeface="DejaVu Sans"/>
                <a:ea typeface="DejaVu Sans"/>
                <a:cs typeface="DejaVu Sans"/>
              </a:defRPr>
            </a:lvl6pPr>
            <a:lvl7pPr>
              <a:defRPr sz="2475" b="1">
                <a:solidFill>
                  <a:srgbClr val="087F80"/>
                </a:solidFill>
                <a:latin typeface="DejaVu Sans"/>
                <a:ea typeface="DejaVu Sans"/>
                <a:cs typeface="DejaVu Sans"/>
              </a:defRPr>
            </a:lvl7pPr>
            <a:lvl8pPr>
              <a:defRPr sz="2475" b="1">
                <a:solidFill>
                  <a:srgbClr val="087F80"/>
                </a:solidFill>
                <a:latin typeface="DejaVu Sans"/>
                <a:ea typeface="DejaVu Sans"/>
                <a:cs typeface="DejaVu Sans"/>
              </a:defRPr>
            </a:lvl8pPr>
            <a:lvl9pPr>
              <a:defRPr sz="2475" b="1">
                <a:solidFill>
                  <a:srgbClr val="087F80"/>
                </a:solidFill>
                <a:latin typeface="DejaVu Sans"/>
                <a:ea typeface="DejaVu Sans"/>
                <a:cs typeface="DejaVu Sans"/>
              </a:defRPr>
            </a:lvl9pPr>
          </a:lstStyle>
          <a:p xmlns:a="http://schemas.openxmlformats.org/drawingml/2006/main">
            <a:pPr>
              <a:lnSpc>
                <a:spcPct val="112000"/>
              </a:lnSpc>
              <a:buNone/>
              <a:defRPr sz="2475" b="1">
                <a:solidFill>
                  <a:srgbClr val="087F80"/>
                </a:solidFill>
                <a:latin typeface="DejaVu Sans"/>
                <a:ea typeface="DejaVu Sans"/>
                <a:cs typeface="DejaVu Sans"/>
              </a:defRPr>
            </a:pPr>
            <a:r>
              <a:rPr sz="2475" b="1">
                <a:solidFill>
                  <a:srgbClr val="087F80"/>
                </a:solidFill>
                <a:latin typeface="DejaVu Sans"/>
                <a:ea typeface="DejaVu Sans"/>
                <a:cs typeface="DejaVu Sans"/>
              </a:rPr>
              <a:t>Useful for</a:t>
            </a:r>
          </a:p>
        </p:txBody>
      </p:sp>
      <p:sp>
        <p:nvSpPr>
          <p:cNvPr id="4" name="uses-body">
            <a:extLst xmlns:a="http://schemas.openxmlformats.org/drawingml/2006/main">
              <a:ext uri="{FF2B5EF4-FFF2-40B4-BE49-F238E27FC236}">
                <a16:creationId xmlns:a16="http://schemas.microsoft.com/office/drawing/2014/main" id="{234F5218-DD23-445D-9046-C445406B0A11}"/>
              </a:ext>
            </a:extLst>
          </p:cNvPr>
          <p:cNvSpPr>
            <a:spLocks xmlns:a="http://schemas.openxmlformats.org/drawingml/2006/main" noGrp="1"/>
          </p:cNvSpPr>
          <p:nvPr/>
        </p:nvSpPr>
        <p:spPr>
          <a:xfrm xmlns:a="http://schemas.openxmlformats.org/drawingml/2006/main">
            <a:off x="685800" y="2466975"/>
            <a:ext cx="485775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92C3B"/>
                </a:solidFill>
                <a:latin typeface="DejaVu Sans"/>
                <a:ea typeface="DejaVu Sans"/>
                <a:cs typeface="DejaVu Sans"/>
              </a:defRPr>
            </a:defPPr>
            <a:lvl1pPr>
              <a:defRPr sz="2100" b="0">
                <a:solidFill>
                  <a:srgbClr val="192C3B"/>
                </a:solidFill>
                <a:latin typeface="DejaVu Sans"/>
                <a:ea typeface="DejaVu Sans"/>
                <a:cs typeface="DejaVu Sans"/>
              </a:defRPr>
            </a:lvl1pPr>
            <a:lvl2pPr>
              <a:defRPr sz="2100" b="0">
                <a:solidFill>
                  <a:srgbClr val="192C3B"/>
                </a:solidFill>
                <a:latin typeface="DejaVu Sans"/>
                <a:ea typeface="DejaVu Sans"/>
                <a:cs typeface="DejaVu Sans"/>
              </a:defRPr>
            </a:lvl2pPr>
            <a:lvl3pPr>
              <a:defRPr sz="2100" b="0">
                <a:solidFill>
                  <a:srgbClr val="192C3B"/>
                </a:solidFill>
                <a:latin typeface="DejaVu Sans"/>
                <a:ea typeface="DejaVu Sans"/>
                <a:cs typeface="DejaVu Sans"/>
              </a:defRPr>
            </a:lvl3pPr>
            <a:lvl4pPr>
              <a:defRPr sz="2100" b="0">
                <a:solidFill>
                  <a:srgbClr val="192C3B"/>
                </a:solidFill>
                <a:latin typeface="DejaVu Sans"/>
                <a:ea typeface="DejaVu Sans"/>
                <a:cs typeface="DejaVu Sans"/>
              </a:defRPr>
            </a:lvl4pPr>
            <a:lvl5pPr>
              <a:defRPr sz="2100" b="0">
                <a:solidFill>
                  <a:srgbClr val="192C3B"/>
                </a:solidFill>
                <a:latin typeface="DejaVu Sans"/>
                <a:ea typeface="DejaVu Sans"/>
                <a:cs typeface="DejaVu Sans"/>
              </a:defRPr>
            </a:lvl5pPr>
            <a:lvl6pPr>
              <a:defRPr sz="2100" b="0">
                <a:solidFill>
                  <a:srgbClr val="192C3B"/>
                </a:solidFill>
                <a:latin typeface="DejaVu Sans"/>
                <a:ea typeface="DejaVu Sans"/>
                <a:cs typeface="DejaVu Sans"/>
              </a:defRPr>
            </a:lvl6pPr>
            <a:lvl7pPr>
              <a:defRPr sz="2100" b="0">
                <a:solidFill>
                  <a:srgbClr val="192C3B"/>
                </a:solidFill>
                <a:latin typeface="DejaVu Sans"/>
                <a:ea typeface="DejaVu Sans"/>
                <a:cs typeface="DejaVu Sans"/>
              </a:defRPr>
            </a:lvl7pPr>
            <a:lvl8pPr>
              <a:defRPr sz="2100" b="0">
                <a:solidFill>
                  <a:srgbClr val="192C3B"/>
                </a:solidFill>
                <a:latin typeface="DejaVu Sans"/>
                <a:ea typeface="DejaVu Sans"/>
                <a:cs typeface="DejaVu Sans"/>
              </a:defRPr>
            </a:lvl8pPr>
            <a:lvl9pPr>
              <a:defRPr sz="2100" b="0">
                <a:solidFill>
                  <a:srgbClr val="192C3B"/>
                </a:solidFill>
                <a:latin typeface="DejaVu Sans"/>
                <a:ea typeface="DejaVu Sans"/>
                <a:cs typeface="DejaVu Sans"/>
              </a:defRPr>
            </a:lvl9pPr>
          </a:lstStyle>
          <a:p xmlns:a="http://schemas.openxmlformats.org/drawingml/2006/main">
            <a:pPr>
              <a:lnSpc>
                <a:spcPct val="112000"/>
              </a:lnSpc>
              <a:buNone/>
              <a:defRPr sz="2100" b="0">
                <a:solidFill>
                  <a:srgbClr val="192C3B"/>
                </a:solidFill>
                <a:latin typeface="DejaVu Sans"/>
                <a:ea typeface="DejaVu Sans"/>
                <a:cs typeface="DejaVu Sans"/>
              </a:defRPr>
            </a:pPr>
            <a:r>
              <a:rPr sz="2100" b="0">
                <a:solidFill>
                  <a:srgbClr val="192C3B"/>
                </a:solidFill>
                <a:latin typeface="DejaVu Sans"/>
                <a:ea typeface="DejaVu Sans"/>
                <a:cs typeface="DejaVu Sans"/>
              </a:rPr>
              <a:t>Visualizing similar samples</a:t>
            </a:r>
          </a:p>
          <a:p xmlns:a="http://schemas.openxmlformats.org/drawingml/2006/main">
            <a:r>
              <a:t/>
            </a:r>
          </a:p>
          <a:p xmlns:a="http://schemas.openxmlformats.org/drawingml/2006/main">
            <a:pPr>
              <a:lnSpc>
                <a:spcPct val="112000"/>
              </a:lnSpc>
              <a:buNone/>
              <a:defRPr sz="2100" b="0">
                <a:solidFill>
                  <a:srgbClr val="192C3B"/>
                </a:solidFill>
                <a:latin typeface="DejaVu Sans"/>
                <a:ea typeface="DejaVu Sans"/>
                <a:cs typeface="DejaVu Sans"/>
              </a:defRPr>
            </a:pPr>
            <a:r>
              <a:rPr sz="2100" b="0">
                <a:solidFill>
                  <a:srgbClr val="192C3B"/>
                </a:solidFill>
                <a:latin typeface="DejaVu Sans"/>
                <a:ea typeface="DejaVu Sans"/>
                <a:cs typeface="DejaVu Sans"/>
              </a:rPr>
              <a:t>Exploring groups in data</a:t>
            </a:r>
          </a:p>
          <a:p xmlns:a="http://schemas.openxmlformats.org/drawingml/2006/main">
            <a:r>
              <a:t/>
            </a:r>
          </a:p>
          <a:p xmlns:a="http://schemas.openxmlformats.org/drawingml/2006/main">
            <a:pPr>
              <a:lnSpc>
                <a:spcPct val="112000"/>
              </a:lnSpc>
              <a:buNone/>
              <a:defRPr sz="2100" b="0">
                <a:solidFill>
                  <a:srgbClr val="192C3B"/>
                </a:solidFill>
                <a:latin typeface="DejaVu Sans"/>
                <a:ea typeface="DejaVu Sans"/>
                <a:cs typeface="DejaVu Sans"/>
              </a:defRPr>
            </a:pPr>
            <a:r>
              <a:rPr sz="2100" b="0">
                <a:solidFill>
                  <a:srgbClr val="192C3B"/>
                </a:solidFill>
                <a:latin typeface="DejaVu Sans"/>
                <a:ea typeface="DejaVu Sans"/>
                <a:cs typeface="DejaVu Sans"/>
              </a:rPr>
              <a:t>Building representative color palettes</a:t>
            </a:r>
          </a:p>
        </p:txBody>
      </p:sp>
      <p:sp>
        <p:nvSpPr>
          <p:cNvPr id="5" name="limits-title">
            <a:extLst xmlns:a="http://schemas.openxmlformats.org/drawingml/2006/main">
              <a:ext uri="{FF2B5EF4-FFF2-40B4-BE49-F238E27FC236}">
                <a16:creationId xmlns:a16="http://schemas.microsoft.com/office/drawing/2014/main" id="{EA799820-9EF3-4366-86B2-0372FDBD22A4}"/>
              </a:ext>
            </a:extLst>
          </p:cNvPr>
          <p:cNvSpPr>
            <a:spLocks xmlns:a="http://schemas.openxmlformats.org/drawingml/2006/main" noGrp="1"/>
          </p:cNvSpPr>
          <p:nvPr/>
        </p:nvSpPr>
        <p:spPr>
          <a:xfrm xmlns:a="http://schemas.openxmlformats.org/drawingml/2006/main">
            <a:off x="6496050" y="1657350"/>
            <a:ext cx="5010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5D3FA8"/>
                </a:solidFill>
                <a:latin typeface="DejaVu Sans"/>
                <a:ea typeface="DejaVu Sans"/>
                <a:cs typeface="DejaVu Sans"/>
              </a:defRPr>
            </a:defPPr>
            <a:lvl1pPr>
              <a:defRPr sz="2475" b="1">
                <a:solidFill>
                  <a:srgbClr val="5D3FA8"/>
                </a:solidFill>
                <a:latin typeface="DejaVu Sans"/>
                <a:ea typeface="DejaVu Sans"/>
                <a:cs typeface="DejaVu Sans"/>
              </a:defRPr>
            </a:lvl1pPr>
            <a:lvl2pPr>
              <a:defRPr sz="2475" b="1">
                <a:solidFill>
                  <a:srgbClr val="5D3FA8"/>
                </a:solidFill>
                <a:latin typeface="DejaVu Sans"/>
                <a:ea typeface="DejaVu Sans"/>
                <a:cs typeface="DejaVu Sans"/>
              </a:defRPr>
            </a:lvl2pPr>
            <a:lvl3pPr>
              <a:defRPr sz="2475" b="1">
                <a:solidFill>
                  <a:srgbClr val="5D3FA8"/>
                </a:solidFill>
                <a:latin typeface="DejaVu Sans"/>
                <a:ea typeface="DejaVu Sans"/>
                <a:cs typeface="DejaVu Sans"/>
              </a:defRPr>
            </a:lvl3pPr>
            <a:lvl4pPr>
              <a:defRPr sz="2475" b="1">
                <a:solidFill>
                  <a:srgbClr val="5D3FA8"/>
                </a:solidFill>
                <a:latin typeface="DejaVu Sans"/>
                <a:ea typeface="DejaVu Sans"/>
                <a:cs typeface="DejaVu Sans"/>
              </a:defRPr>
            </a:lvl4pPr>
            <a:lvl5pPr>
              <a:defRPr sz="2475" b="1">
                <a:solidFill>
                  <a:srgbClr val="5D3FA8"/>
                </a:solidFill>
                <a:latin typeface="DejaVu Sans"/>
                <a:ea typeface="DejaVu Sans"/>
                <a:cs typeface="DejaVu Sans"/>
              </a:defRPr>
            </a:lvl5pPr>
            <a:lvl6pPr>
              <a:defRPr sz="2475" b="1">
                <a:solidFill>
                  <a:srgbClr val="5D3FA8"/>
                </a:solidFill>
                <a:latin typeface="DejaVu Sans"/>
                <a:ea typeface="DejaVu Sans"/>
                <a:cs typeface="DejaVu Sans"/>
              </a:defRPr>
            </a:lvl6pPr>
            <a:lvl7pPr>
              <a:defRPr sz="2475" b="1">
                <a:solidFill>
                  <a:srgbClr val="5D3FA8"/>
                </a:solidFill>
                <a:latin typeface="DejaVu Sans"/>
                <a:ea typeface="DejaVu Sans"/>
                <a:cs typeface="DejaVu Sans"/>
              </a:defRPr>
            </a:lvl7pPr>
            <a:lvl8pPr>
              <a:defRPr sz="2475" b="1">
                <a:solidFill>
                  <a:srgbClr val="5D3FA8"/>
                </a:solidFill>
                <a:latin typeface="DejaVu Sans"/>
                <a:ea typeface="DejaVu Sans"/>
                <a:cs typeface="DejaVu Sans"/>
              </a:defRPr>
            </a:lvl8pPr>
            <a:lvl9pPr>
              <a:defRPr sz="2475" b="1">
                <a:solidFill>
                  <a:srgbClr val="5D3FA8"/>
                </a:solidFill>
                <a:latin typeface="DejaVu Sans"/>
                <a:ea typeface="DejaVu Sans"/>
                <a:cs typeface="DejaVu Sans"/>
              </a:defRPr>
            </a:lvl9pPr>
          </a:lstStyle>
          <a:p xmlns:a="http://schemas.openxmlformats.org/drawingml/2006/main">
            <a:pPr>
              <a:lnSpc>
                <a:spcPct val="112000"/>
              </a:lnSpc>
              <a:buNone/>
              <a:defRPr sz="2475" b="1">
                <a:solidFill>
                  <a:srgbClr val="5D3FA8"/>
                </a:solidFill>
                <a:latin typeface="DejaVu Sans"/>
                <a:ea typeface="DejaVu Sans"/>
                <a:cs typeface="DejaVu Sans"/>
              </a:defRPr>
            </a:pPr>
            <a:r>
              <a:rPr sz="2475" b="1">
                <a:solidFill>
                  <a:srgbClr val="5D3FA8"/>
                </a:solidFill>
                <a:latin typeface="DejaVu Sans"/>
                <a:ea typeface="DejaVu Sans"/>
                <a:cs typeface="DejaVu Sans"/>
              </a:rPr>
              <a:t>Things to consider</a:t>
            </a:r>
          </a:p>
        </p:txBody>
      </p:sp>
      <p:sp>
        <p:nvSpPr>
          <p:cNvPr id="6" name="limits-body">
            <a:extLst xmlns:a="http://schemas.openxmlformats.org/drawingml/2006/main">
              <a:ext uri="{FF2B5EF4-FFF2-40B4-BE49-F238E27FC236}">
                <a16:creationId xmlns:a16="http://schemas.microsoft.com/office/drawing/2014/main" id="{66826015-A500-4479-AC40-11497B9C61CF}"/>
              </a:ext>
            </a:extLst>
          </p:cNvPr>
          <p:cNvSpPr>
            <a:spLocks xmlns:a="http://schemas.openxmlformats.org/drawingml/2006/main" noGrp="1"/>
          </p:cNvSpPr>
          <p:nvPr/>
        </p:nvSpPr>
        <p:spPr>
          <a:xfrm xmlns:a="http://schemas.openxmlformats.org/drawingml/2006/main">
            <a:off x="6496050" y="2466975"/>
            <a:ext cx="501015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92C3B"/>
                </a:solidFill>
                <a:latin typeface="DejaVu Sans"/>
                <a:ea typeface="DejaVu Sans"/>
                <a:cs typeface="DejaVu Sans"/>
              </a:defRPr>
            </a:defPPr>
            <a:lvl1pPr>
              <a:defRPr sz="2100" b="0">
                <a:solidFill>
                  <a:srgbClr val="192C3B"/>
                </a:solidFill>
                <a:latin typeface="DejaVu Sans"/>
                <a:ea typeface="DejaVu Sans"/>
                <a:cs typeface="DejaVu Sans"/>
              </a:defRPr>
            </a:lvl1pPr>
            <a:lvl2pPr>
              <a:defRPr sz="2100" b="0">
                <a:solidFill>
                  <a:srgbClr val="192C3B"/>
                </a:solidFill>
                <a:latin typeface="DejaVu Sans"/>
                <a:ea typeface="DejaVu Sans"/>
                <a:cs typeface="DejaVu Sans"/>
              </a:defRPr>
            </a:lvl2pPr>
            <a:lvl3pPr>
              <a:defRPr sz="2100" b="0">
                <a:solidFill>
                  <a:srgbClr val="192C3B"/>
                </a:solidFill>
                <a:latin typeface="DejaVu Sans"/>
                <a:ea typeface="DejaVu Sans"/>
                <a:cs typeface="DejaVu Sans"/>
              </a:defRPr>
            </a:lvl3pPr>
            <a:lvl4pPr>
              <a:defRPr sz="2100" b="0">
                <a:solidFill>
                  <a:srgbClr val="192C3B"/>
                </a:solidFill>
                <a:latin typeface="DejaVu Sans"/>
                <a:ea typeface="DejaVu Sans"/>
                <a:cs typeface="DejaVu Sans"/>
              </a:defRPr>
            </a:lvl4pPr>
            <a:lvl5pPr>
              <a:defRPr sz="2100" b="0">
                <a:solidFill>
                  <a:srgbClr val="192C3B"/>
                </a:solidFill>
                <a:latin typeface="DejaVu Sans"/>
                <a:ea typeface="DejaVu Sans"/>
                <a:cs typeface="DejaVu Sans"/>
              </a:defRPr>
            </a:lvl5pPr>
            <a:lvl6pPr>
              <a:defRPr sz="2100" b="0">
                <a:solidFill>
                  <a:srgbClr val="192C3B"/>
                </a:solidFill>
                <a:latin typeface="DejaVu Sans"/>
                <a:ea typeface="DejaVu Sans"/>
                <a:cs typeface="DejaVu Sans"/>
              </a:defRPr>
            </a:lvl6pPr>
            <a:lvl7pPr>
              <a:defRPr sz="2100" b="0">
                <a:solidFill>
                  <a:srgbClr val="192C3B"/>
                </a:solidFill>
                <a:latin typeface="DejaVu Sans"/>
                <a:ea typeface="DejaVu Sans"/>
                <a:cs typeface="DejaVu Sans"/>
              </a:defRPr>
            </a:lvl7pPr>
            <a:lvl8pPr>
              <a:defRPr sz="2100" b="0">
                <a:solidFill>
                  <a:srgbClr val="192C3B"/>
                </a:solidFill>
                <a:latin typeface="DejaVu Sans"/>
                <a:ea typeface="DejaVu Sans"/>
                <a:cs typeface="DejaVu Sans"/>
              </a:defRPr>
            </a:lvl8pPr>
            <a:lvl9pPr>
              <a:defRPr sz="2100" b="0">
                <a:solidFill>
                  <a:srgbClr val="192C3B"/>
                </a:solidFill>
                <a:latin typeface="DejaVu Sans"/>
                <a:ea typeface="DejaVu Sans"/>
                <a:cs typeface="DejaVu Sans"/>
              </a:defRPr>
            </a:lvl9pPr>
          </a:lstStyle>
          <a:p xmlns:a="http://schemas.openxmlformats.org/drawingml/2006/main">
            <a:pPr>
              <a:lnSpc>
                <a:spcPct val="112000"/>
              </a:lnSpc>
              <a:buNone/>
              <a:defRPr sz="2100" b="0">
                <a:solidFill>
                  <a:srgbClr val="192C3B"/>
                </a:solidFill>
                <a:latin typeface="DejaVu Sans"/>
                <a:ea typeface="DejaVu Sans"/>
                <a:cs typeface="DejaVu Sans"/>
              </a:defRPr>
            </a:pPr>
            <a:r>
              <a:rPr sz="2100" b="0">
                <a:solidFill>
                  <a:srgbClr val="192C3B"/>
                </a:solidFill>
                <a:latin typeface="DejaVu Sans"/>
                <a:ea typeface="DejaVu Sans"/>
                <a:cs typeface="DejaVu Sans"/>
              </a:rPr>
              <a:t>Feature scaling affects similarity.</a:t>
            </a:r>
          </a:p>
          <a:p xmlns:a="http://schemas.openxmlformats.org/drawingml/2006/main">
            <a:r>
              <a:t/>
            </a:r>
          </a:p>
          <a:p xmlns:a="http://schemas.openxmlformats.org/drawingml/2006/main">
            <a:pPr>
              <a:lnSpc>
                <a:spcPct val="112000"/>
              </a:lnSpc>
              <a:buNone/>
              <a:defRPr sz="2100" b="0">
                <a:solidFill>
                  <a:srgbClr val="192C3B"/>
                </a:solidFill>
                <a:latin typeface="DejaVu Sans"/>
                <a:ea typeface="DejaVu Sans"/>
                <a:cs typeface="DejaVu Sans"/>
              </a:defRPr>
            </a:pPr>
            <a:r>
              <a:rPr sz="2100" b="0">
                <a:solidFill>
                  <a:srgbClr val="192C3B"/>
                </a:solidFill>
                <a:latin typeface="DejaVu Sans"/>
                <a:ea typeface="DejaVu Sans"/>
                <a:cs typeface="DejaVu Sans"/>
              </a:rPr>
              <a:t>Map size and settings affect results.</a:t>
            </a:r>
          </a:p>
          <a:p xmlns:a="http://schemas.openxmlformats.org/drawingml/2006/main">
            <a:r>
              <a:t/>
            </a:r>
          </a:p>
          <a:p xmlns:a="http://schemas.openxmlformats.org/drawingml/2006/main">
            <a:pPr>
              <a:lnSpc>
                <a:spcPct val="112000"/>
              </a:lnSpc>
              <a:buNone/>
              <a:defRPr sz="2100" b="0">
                <a:solidFill>
                  <a:srgbClr val="192C3B"/>
                </a:solidFill>
                <a:latin typeface="DejaVu Sans"/>
                <a:ea typeface="DejaVu Sans"/>
                <a:cs typeface="DejaVu Sans"/>
              </a:defRPr>
            </a:pPr>
            <a:r>
              <a:rPr sz="2100" b="0">
                <a:solidFill>
                  <a:srgbClr val="192C3B"/>
                </a:solidFill>
                <a:latin typeface="DejaVu Sans"/>
                <a:ea typeface="DejaVu Sans"/>
                <a:cs typeface="DejaVu Sans"/>
              </a:rPr>
              <a:t>Class prediction requires</a:t>
            </a:r>
          </a:p>
          <a:p xmlns:a="http://schemas.openxmlformats.org/drawingml/2006/main">
            <a:pPr>
              <a:lnSpc>
                <a:spcPct val="112000"/>
              </a:lnSpc>
              <a:buNone/>
              <a:defRPr sz="2100" b="0">
                <a:solidFill>
                  <a:srgbClr val="192C3B"/>
                </a:solidFill>
                <a:latin typeface="DejaVu Sans"/>
                <a:ea typeface="DejaVu Sans"/>
                <a:cs typeface="DejaVu Sans"/>
              </a:defRPr>
            </a:pPr>
            <a:r>
              <a:rPr sz="2100" b="0">
                <a:solidFill>
                  <a:srgbClr val="192C3B"/>
                </a:solidFill>
                <a:latin typeface="DejaVu Sans"/>
                <a:ea typeface="DejaVu Sans"/>
                <a:cs typeface="DejaVu Sans"/>
              </a:rPr>
              <a:t>an additional labeling step.</a:t>
            </a:r>
          </a:p>
        </p:txBody>
      </p:sp>
      <p:sp>
        <p:nvSpPr>
          <p:cNvPr id="7" name="closing">
            <a:extLst xmlns:a="http://schemas.openxmlformats.org/drawingml/2006/main">
              <a:ext uri="{FF2B5EF4-FFF2-40B4-BE49-F238E27FC236}">
                <a16:creationId xmlns:a16="http://schemas.microsoft.com/office/drawing/2014/main" id="{39075A1A-B238-4987-B25E-51D7DB89E199}"/>
              </a:ext>
            </a:extLst>
          </p:cNvPr>
          <p:cNvSpPr>
            <a:spLocks xmlns:a="http://schemas.openxmlformats.org/drawingml/2006/main" noGrp="1"/>
          </p:cNvSpPr>
          <p:nvPr/>
        </p:nvSpPr>
        <p:spPr>
          <a:xfrm xmlns:a="http://schemas.openxmlformats.org/drawingml/2006/main">
            <a:off x="685800" y="576262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92C3B"/>
                </a:solidFill>
                <a:latin typeface="DejaVu Sans"/>
                <a:ea typeface="DejaVu Sans"/>
                <a:cs typeface="DejaVu Sans"/>
              </a:defRPr>
            </a:defPPr>
            <a:lvl1pPr>
              <a:defRPr sz="2250" b="1">
                <a:solidFill>
                  <a:srgbClr val="192C3B"/>
                </a:solidFill>
                <a:latin typeface="DejaVu Sans"/>
                <a:ea typeface="DejaVu Sans"/>
                <a:cs typeface="DejaVu Sans"/>
              </a:defRPr>
            </a:lvl1pPr>
            <a:lvl2pPr>
              <a:defRPr sz="2250" b="1">
                <a:solidFill>
                  <a:srgbClr val="192C3B"/>
                </a:solidFill>
                <a:latin typeface="DejaVu Sans"/>
                <a:ea typeface="DejaVu Sans"/>
                <a:cs typeface="DejaVu Sans"/>
              </a:defRPr>
            </a:lvl2pPr>
            <a:lvl3pPr>
              <a:defRPr sz="2250" b="1">
                <a:solidFill>
                  <a:srgbClr val="192C3B"/>
                </a:solidFill>
                <a:latin typeface="DejaVu Sans"/>
                <a:ea typeface="DejaVu Sans"/>
                <a:cs typeface="DejaVu Sans"/>
              </a:defRPr>
            </a:lvl3pPr>
            <a:lvl4pPr>
              <a:defRPr sz="2250" b="1">
                <a:solidFill>
                  <a:srgbClr val="192C3B"/>
                </a:solidFill>
                <a:latin typeface="DejaVu Sans"/>
                <a:ea typeface="DejaVu Sans"/>
                <a:cs typeface="DejaVu Sans"/>
              </a:defRPr>
            </a:lvl4pPr>
            <a:lvl5pPr>
              <a:defRPr sz="2250" b="1">
                <a:solidFill>
                  <a:srgbClr val="192C3B"/>
                </a:solidFill>
                <a:latin typeface="DejaVu Sans"/>
                <a:ea typeface="DejaVu Sans"/>
                <a:cs typeface="DejaVu Sans"/>
              </a:defRPr>
            </a:lvl5pPr>
            <a:lvl6pPr>
              <a:defRPr sz="2250" b="1">
                <a:solidFill>
                  <a:srgbClr val="192C3B"/>
                </a:solidFill>
                <a:latin typeface="DejaVu Sans"/>
                <a:ea typeface="DejaVu Sans"/>
                <a:cs typeface="DejaVu Sans"/>
              </a:defRPr>
            </a:lvl6pPr>
            <a:lvl7pPr>
              <a:defRPr sz="2250" b="1">
                <a:solidFill>
                  <a:srgbClr val="192C3B"/>
                </a:solidFill>
                <a:latin typeface="DejaVu Sans"/>
                <a:ea typeface="DejaVu Sans"/>
                <a:cs typeface="DejaVu Sans"/>
              </a:defRPr>
            </a:lvl7pPr>
            <a:lvl8pPr>
              <a:defRPr sz="2250" b="1">
                <a:solidFill>
                  <a:srgbClr val="192C3B"/>
                </a:solidFill>
                <a:latin typeface="DejaVu Sans"/>
                <a:ea typeface="DejaVu Sans"/>
                <a:cs typeface="DejaVu Sans"/>
              </a:defRPr>
            </a:lvl8pPr>
            <a:lvl9pPr>
              <a:defRPr sz="2250" b="1">
                <a:solidFill>
                  <a:srgbClr val="192C3B"/>
                </a:solidFill>
                <a:latin typeface="DejaVu Sans"/>
                <a:ea typeface="DejaVu Sans"/>
                <a:cs typeface="DejaVu Sans"/>
              </a:defRPr>
            </a:lvl9pPr>
          </a:lstStyle>
          <a:p xmlns:a="http://schemas.openxmlformats.org/drawingml/2006/main">
            <a:pPr>
              <a:lnSpc>
                <a:spcPct val="112000"/>
              </a:lnSpc>
              <a:buNone/>
              <a:defRPr sz="2250" b="1">
                <a:solidFill>
                  <a:srgbClr val="192C3B"/>
                </a:solidFill>
                <a:latin typeface="DejaVu Sans"/>
                <a:ea typeface="DejaVu Sans"/>
                <a:cs typeface="DejaVu Sans"/>
              </a:defRPr>
            </a:pPr>
            <a:r>
              <a:rPr sz="2250" b="1">
                <a:solidFill>
                  <a:srgbClr val="192C3B"/>
                </a:solidFill>
                <a:latin typeface="DejaVu Sans"/>
                <a:ea typeface="DejaVu Sans"/>
                <a:cs typeface="DejaVu Sans"/>
              </a:rPr>
              <a:t>MiniSom makes a small learning experiment easy to inspect.</a:t>
            </a:r>
          </a:p>
        </p:txBody>
      </p:sp>
    </p:spTree>
    <p:extLst>
      <p:ext uri="{BB962C8B-B14F-4D97-AF65-F5344CB8AC3E}">
        <p14:creationId xmlns:p14="http://schemas.microsoft.com/office/powerpoint/2010/main" val="1215512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F121ED2-94D6-43D8-B64D-B40EACC459DE}"/>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2C3B"/>
                </a:solidFill>
                <a:latin typeface="DejaVu Sans"/>
                <a:ea typeface="DejaVu Sans"/>
                <a:cs typeface="DejaVu Sans"/>
              </a:defRPr>
            </a:defPPr>
            <a:lvl1pPr>
              <a:defRPr sz="3300" b="1">
                <a:solidFill>
                  <a:srgbClr val="192C3B"/>
                </a:solidFill>
                <a:latin typeface="DejaVu Sans"/>
                <a:ea typeface="DejaVu Sans"/>
                <a:cs typeface="DejaVu Sans"/>
              </a:defRPr>
            </a:lvl1pPr>
            <a:lvl2pPr>
              <a:defRPr sz="3300" b="1">
                <a:solidFill>
                  <a:srgbClr val="192C3B"/>
                </a:solidFill>
                <a:latin typeface="DejaVu Sans"/>
                <a:ea typeface="DejaVu Sans"/>
                <a:cs typeface="DejaVu Sans"/>
              </a:defRPr>
            </a:lvl2pPr>
            <a:lvl3pPr>
              <a:defRPr sz="3300" b="1">
                <a:solidFill>
                  <a:srgbClr val="192C3B"/>
                </a:solidFill>
                <a:latin typeface="DejaVu Sans"/>
                <a:ea typeface="DejaVu Sans"/>
                <a:cs typeface="DejaVu Sans"/>
              </a:defRPr>
            </a:lvl3pPr>
            <a:lvl4pPr>
              <a:defRPr sz="3300" b="1">
                <a:solidFill>
                  <a:srgbClr val="192C3B"/>
                </a:solidFill>
                <a:latin typeface="DejaVu Sans"/>
                <a:ea typeface="DejaVu Sans"/>
                <a:cs typeface="DejaVu Sans"/>
              </a:defRPr>
            </a:lvl4pPr>
            <a:lvl5pPr>
              <a:defRPr sz="3300" b="1">
                <a:solidFill>
                  <a:srgbClr val="192C3B"/>
                </a:solidFill>
                <a:latin typeface="DejaVu Sans"/>
                <a:ea typeface="DejaVu Sans"/>
                <a:cs typeface="DejaVu Sans"/>
              </a:defRPr>
            </a:lvl5pPr>
            <a:lvl6pPr>
              <a:defRPr sz="3300" b="1">
                <a:solidFill>
                  <a:srgbClr val="192C3B"/>
                </a:solidFill>
                <a:latin typeface="DejaVu Sans"/>
                <a:ea typeface="DejaVu Sans"/>
                <a:cs typeface="DejaVu Sans"/>
              </a:defRPr>
            </a:lvl6pPr>
            <a:lvl7pPr>
              <a:defRPr sz="3300" b="1">
                <a:solidFill>
                  <a:srgbClr val="192C3B"/>
                </a:solidFill>
                <a:latin typeface="DejaVu Sans"/>
                <a:ea typeface="DejaVu Sans"/>
                <a:cs typeface="DejaVu Sans"/>
              </a:defRPr>
            </a:lvl7pPr>
            <a:lvl8pPr>
              <a:defRPr sz="3300" b="1">
                <a:solidFill>
                  <a:srgbClr val="192C3B"/>
                </a:solidFill>
                <a:latin typeface="DejaVu Sans"/>
                <a:ea typeface="DejaVu Sans"/>
                <a:cs typeface="DejaVu Sans"/>
              </a:defRPr>
            </a:lvl8pPr>
            <a:lvl9pPr>
              <a:defRPr sz="3300" b="1">
                <a:solidFill>
                  <a:srgbClr val="192C3B"/>
                </a:solidFill>
                <a:latin typeface="DejaVu Sans"/>
                <a:ea typeface="DejaVu Sans"/>
                <a:cs typeface="DejaVu Sans"/>
              </a:defRPr>
            </a:lvl9pPr>
          </a:lstStyle>
          <a:p xmlns:a="http://schemas.openxmlformats.org/drawingml/2006/main">
            <a:pPr>
              <a:lnSpc>
                <a:spcPct val="112000"/>
              </a:lnSpc>
              <a:buNone/>
              <a:defRPr sz="3300" b="1">
                <a:solidFill>
                  <a:srgbClr val="192C3B"/>
                </a:solidFill>
                <a:latin typeface="DejaVu Sans"/>
                <a:ea typeface="DejaVu Sans"/>
                <a:cs typeface="DejaVu Sans"/>
              </a:defRPr>
            </a:pPr>
            <a:r>
              <a:rPr sz="3300" b="1">
                <a:solidFill>
                  <a:srgbClr val="192C3B"/>
                </a:solidFill>
                <a:latin typeface="DejaVu Sans"/>
                <a:ea typeface="DejaVu Sans"/>
                <a:cs typeface="DejaVu Sans"/>
              </a:rPr>
              <a:t>References</a:t>
            </a:r>
          </a:p>
        </p:txBody>
      </p:sp>
      <p:sp>
        <p:nvSpPr>
          <p:cNvPr id="2" name="slide-number">
            <a:extLst xmlns:a="http://schemas.openxmlformats.org/drawingml/2006/main">
              <a:ext uri="{FF2B5EF4-FFF2-40B4-BE49-F238E27FC236}">
                <a16:creationId xmlns:a16="http://schemas.microsoft.com/office/drawing/2014/main" id="{A17DC1B9-516B-46D1-8959-8F93158D18C6}"/>
              </a:ext>
            </a:extLst>
          </p:cNvPr>
          <p:cNvSpPr>
            <a:spLocks xmlns:a="http://schemas.openxmlformats.org/drawingml/2006/main" noGrp="1"/>
          </p:cNvSpPr>
          <p:nvPr/>
        </p:nvSpPr>
        <p:spPr>
          <a:xfrm xmlns:a="http://schemas.openxmlformats.org/drawingml/2006/main">
            <a:off x="10953750" y="64103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16573"/>
                </a:solidFill>
                <a:latin typeface="DejaVu Sans"/>
                <a:ea typeface="DejaVu Sans"/>
                <a:cs typeface="DejaVu Sans"/>
              </a:defRPr>
            </a:defPPr>
            <a:lvl1pPr>
              <a:defRPr sz="1275" b="0">
                <a:solidFill>
                  <a:srgbClr val="516573"/>
                </a:solidFill>
                <a:latin typeface="DejaVu Sans"/>
                <a:ea typeface="DejaVu Sans"/>
                <a:cs typeface="DejaVu Sans"/>
              </a:defRPr>
            </a:lvl1pPr>
            <a:lvl2pPr>
              <a:defRPr sz="1275" b="0">
                <a:solidFill>
                  <a:srgbClr val="516573"/>
                </a:solidFill>
                <a:latin typeface="DejaVu Sans"/>
                <a:ea typeface="DejaVu Sans"/>
                <a:cs typeface="DejaVu Sans"/>
              </a:defRPr>
            </a:lvl2pPr>
            <a:lvl3pPr>
              <a:defRPr sz="1275" b="0">
                <a:solidFill>
                  <a:srgbClr val="516573"/>
                </a:solidFill>
                <a:latin typeface="DejaVu Sans"/>
                <a:ea typeface="DejaVu Sans"/>
                <a:cs typeface="DejaVu Sans"/>
              </a:defRPr>
            </a:lvl3pPr>
            <a:lvl4pPr>
              <a:defRPr sz="1275" b="0">
                <a:solidFill>
                  <a:srgbClr val="516573"/>
                </a:solidFill>
                <a:latin typeface="DejaVu Sans"/>
                <a:ea typeface="DejaVu Sans"/>
                <a:cs typeface="DejaVu Sans"/>
              </a:defRPr>
            </a:lvl4pPr>
            <a:lvl5pPr>
              <a:defRPr sz="1275" b="0">
                <a:solidFill>
                  <a:srgbClr val="516573"/>
                </a:solidFill>
                <a:latin typeface="DejaVu Sans"/>
                <a:ea typeface="DejaVu Sans"/>
                <a:cs typeface="DejaVu Sans"/>
              </a:defRPr>
            </a:lvl5pPr>
            <a:lvl6pPr>
              <a:defRPr sz="1275" b="0">
                <a:solidFill>
                  <a:srgbClr val="516573"/>
                </a:solidFill>
                <a:latin typeface="DejaVu Sans"/>
                <a:ea typeface="DejaVu Sans"/>
                <a:cs typeface="DejaVu Sans"/>
              </a:defRPr>
            </a:lvl6pPr>
            <a:lvl7pPr>
              <a:defRPr sz="1275" b="0">
                <a:solidFill>
                  <a:srgbClr val="516573"/>
                </a:solidFill>
                <a:latin typeface="DejaVu Sans"/>
                <a:ea typeface="DejaVu Sans"/>
                <a:cs typeface="DejaVu Sans"/>
              </a:defRPr>
            </a:lvl7pPr>
            <a:lvl8pPr>
              <a:defRPr sz="1275" b="0">
                <a:solidFill>
                  <a:srgbClr val="516573"/>
                </a:solidFill>
                <a:latin typeface="DejaVu Sans"/>
                <a:ea typeface="DejaVu Sans"/>
                <a:cs typeface="DejaVu Sans"/>
              </a:defRPr>
            </a:lvl8pPr>
            <a:lvl9pPr>
              <a:defRPr sz="1275" b="0">
                <a:solidFill>
                  <a:srgbClr val="516573"/>
                </a:solidFill>
                <a:latin typeface="DejaVu Sans"/>
                <a:ea typeface="DejaVu Sans"/>
                <a:cs typeface="DejaVu Sans"/>
              </a:defRPr>
            </a:lvl9pPr>
          </a:lstStyle>
          <a:p xmlns:a="http://schemas.openxmlformats.org/drawingml/2006/main">
            <a:pPr>
              <a:lnSpc>
                <a:spcPct val="112000"/>
              </a:lnSpc>
              <a:buNone/>
              <a:defRPr sz="1275" b="0">
                <a:solidFill>
                  <a:srgbClr val="516573"/>
                </a:solidFill>
                <a:latin typeface="DejaVu Sans"/>
                <a:ea typeface="DejaVu Sans"/>
                <a:cs typeface="DejaVu Sans"/>
              </a:defRPr>
            </a:pPr>
            <a:r>
              <a:rPr sz="1275" b="0">
                <a:solidFill>
                  <a:srgbClr val="516573"/>
                </a:solidFill>
                <a:latin typeface="DejaVu Sans"/>
                <a:ea typeface="DejaVu Sans"/>
                <a:cs typeface="DejaVu Sans"/>
              </a:rPr>
              <a:t>09</a:t>
            </a:r>
          </a:p>
        </p:txBody>
      </p:sp>
      <p:sp>
        <p:nvSpPr>
          <p:cNvPr id="3" name="reference-title-0">
            <a:extLst xmlns:a="http://schemas.openxmlformats.org/drawingml/2006/main">
              <a:ext uri="{FF2B5EF4-FFF2-40B4-BE49-F238E27FC236}">
                <a16:creationId xmlns:a16="http://schemas.microsoft.com/office/drawing/2014/main" id="{1A015767-A64D-453F-AF93-34E7FAFBFAF2}"/>
              </a:ext>
            </a:extLst>
          </p:cNvPr>
          <p:cNvSpPr>
            <a:spLocks xmlns:a="http://schemas.openxmlformats.org/drawingml/2006/main" noGrp="1"/>
          </p:cNvSpPr>
          <p:nvPr/>
        </p:nvSpPr>
        <p:spPr>
          <a:xfrm xmlns:a="http://schemas.openxmlformats.org/drawingml/2006/main">
            <a:off x="685800" y="1581150"/>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2C3B"/>
                </a:solidFill>
                <a:latin typeface="DejaVu Sans"/>
                <a:ea typeface="DejaVu Sans"/>
                <a:cs typeface="DejaVu Sans"/>
              </a:defRPr>
            </a:defPPr>
            <a:lvl1pPr>
              <a:defRPr sz="2100" b="1">
                <a:solidFill>
                  <a:srgbClr val="192C3B"/>
                </a:solidFill>
                <a:latin typeface="DejaVu Sans"/>
                <a:ea typeface="DejaVu Sans"/>
                <a:cs typeface="DejaVu Sans"/>
              </a:defRPr>
            </a:lvl1pPr>
            <a:lvl2pPr>
              <a:defRPr sz="2100" b="1">
                <a:solidFill>
                  <a:srgbClr val="192C3B"/>
                </a:solidFill>
                <a:latin typeface="DejaVu Sans"/>
                <a:ea typeface="DejaVu Sans"/>
                <a:cs typeface="DejaVu Sans"/>
              </a:defRPr>
            </a:lvl2pPr>
            <a:lvl3pPr>
              <a:defRPr sz="2100" b="1">
                <a:solidFill>
                  <a:srgbClr val="192C3B"/>
                </a:solidFill>
                <a:latin typeface="DejaVu Sans"/>
                <a:ea typeface="DejaVu Sans"/>
                <a:cs typeface="DejaVu Sans"/>
              </a:defRPr>
            </a:lvl3pPr>
            <a:lvl4pPr>
              <a:defRPr sz="2100" b="1">
                <a:solidFill>
                  <a:srgbClr val="192C3B"/>
                </a:solidFill>
                <a:latin typeface="DejaVu Sans"/>
                <a:ea typeface="DejaVu Sans"/>
                <a:cs typeface="DejaVu Sans"/>
              </a:defRPr>
            </a:lvl4pPr>
            <a:lvl5pPr>
              <a:defRPr sz="2100" b="1">
                <a:solidFill>
                  <a:srgbClr val="192C3B"/>
                </a:solidFill>
                <a:latin typeface="DejaVu Sans"/>
                <a:ea typeface="DejaVu Sans"/>
                <a:cs typeface="DejaVu Sans"/>
              </a:defRPr>
            </a:lvl5pPr>
            <a:lvl6pPr>
              <a:defRPr sz="2100" b="1">
                <a:solidFill>
                  <a:srgbClr val="192C3B"/>
                </a:solidFill>
                <a:latin typeface="DejaVu Sans"/>
                <a:ea typeface="DejaVu Sans"/>
                <a:cs typeface="DejaVu Sans"/>
              </a:defRPr>
            </a:lvl6pPr>
            <a:lvl7pPr>
              <a:defRPr sz="2100" b="1">
                <a:solidFill>
                  <a:srgbClr val="192C3B"/>
                </a:solidFill>
                <a:latin typeface="DejaVu Sans"/>
                <a:ea typeface="DejaVu Sans"/>
                <a:cs typeface="DejaVu Sans"/>
              </a:defRPr>
            </a:lvl7pPr>
            <a:lvl8pPr>
              <a:defRPr sz="2100" b="1">
                <a:solidFill>
                  <a:srgbClr val="192C3B"/>
                </a:solidFill>
                <a:latin typeface="DejaVu Sans"/>
                <a:ea typeface="DejaVu Sans"/>
                <a:cs typeface="DejaVu Sans"/>
              </a:defRPr>
            </a:lvl8pPr>
            <a:lvl9pPr>
              <a:defRPr sz="2100" b="1">
                <a:solidFill>
                  <a:srgbClr val="192C3B"/>
                </a:solidFill>
                <a:latin typeface="DejaVu Sans"/>
                <a:ea typeface="DejaVu Sans"/>
                <a:cs typeface="DejaVu Sans"/>
              </a:defRPr>
            </a:lvl9pPr>
          </a:lstStyle>
          <a:p xmlns:a="http://schemas.openxmlformats.org/drawingml/2006/main">
            <a:pPr>
              <a:lnSpc>
                <a:spcPct val="112000"/>
              </a:lnSpc>
              <a:buNone/>
              <a:defRPr sz="2100" b="1">
                <a:solidFill>
                  <a:srgbClr val="192C3B"/>
                </a:solidFill>
                <a:latin typeface="DejaVu Sans"/>
                <a:ea typeface="DejaVu Sans"/>
                <a:cs typeface="DejaVu Sans"/>
              </a:defRPr>
            </a:pPr>
            <a:r>
              <a:rPr sz="2100" b="1">
                <a:solidFill>
                  <a:srgbClr val="192C3B"/>
                </a:solidFill>
                <a:latin typeface="DejaVu Sans"/>
                <a:ea typeface="DejaVu Sans"/>
                <a:cs typeface="DejaVu Sans"/>
              </a:rPr>
              <a:t>MiniSom overview and installation</a:t>
            </a:r>
          </a:p>
        </p:txBody>
      </p:sp>
      <p:sp>
        <p:nvSpPr>
          <p:cNvPr id="4" name="reference-link-0">
            <a:extLst xmlns:a="http://schemas.openxmlformats.org/drawingml/2006/main">
              <a:ext uri="{FF2B5EF4-FFF2-40B4-BE49-F238E27FC236}">
                <a16:creationId xmlns:a16="http://schemas.microsoft.com/office/drawing/2014/main" id="{7FEEC25A-CEAA-4C1F-B750-16DC6397D858}"/>
              </a:ext>
            </a:extLst>
          </p:cNvPr>
          <p:cNvSpPr>
            <a:spLocks xmlns:a="http://schemas.openxmlformats.org/drawingml/2006/main" noGrp="1"/>
          </p:cNvSpPr>
          <p:nvPr/>
        </p:nvSpPr>
        <p:spPr>
          <a:xfrm xmlns:a="http://schemas.openxmlformats.org/drawingml/2006/main">
            <a:off x="685800" y="211455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087F80"/>
                </a:solidFill>
                <a:latin typeface="DejaVu Sans"/>
                <a:ea typeface="DejaVu Sans"/>
                <a:cs typeface="DejaVu Sans"/>
              </a:defRPr>
            </a:defPPr>
            <a:lvl1pPr>
              <a:defRPr sz="1725" b="0">
                <a:solidFill>
                  <a:srgbClr val="087F80"/>
                </a:solidFill>
                <a:latin typeface="DejaVu Sans"/>
                <a:ea typeface="DejaVu Sans"/>
                <a:cs typeface="DejaVu Sans"/>
              </a:defRPr>
            </a:lvl1pPr>
            <a:lvl2pPr>
              <a:defRPr sz="1725" b="0">
                <a:solidFill>
                  <a:srgbClr val="087F80"/>
                </a:solidFill>
                <a:latin typeface="DejaVu Sans"/>
                <a:ea typeface="DejaVu Sans"/>
                <a:cs typeface="DejaVu Sans"/>
              </a:defRPr>
            </a:lvl2pPr>
            <a:lvl3pPr>
              <a:defRPr sz="1725" b="0">
                <a:solidFill>
                  <a:srgbClr val="087F80"/>
                </a:solidFill>
                <a:latin typeface="DejaVu Sans"/>
                <a:ea typeface="DejaVu Sans"/>
                <a:cs typeface="DejaVu Sans"/>
              </a:defRPr>
            </a:lvl3pPr>
            <a:lvl4pPr>
              <a:defRPr sz="1725" b="0">
                <a:solidFill>
                  <a:srgbClr val="087F80"/>
                </a:solidFill>
                <a:latin typeface="DejaVu Sans"/>
                <a:ea typeface="DejaVu Sans"/>
                <a:cs typeface="DejaVu Sans"/>
              </a:defRPr>
            </a:lvl4pPr>
            <a:lvl5pPr>
              <a:defRPr sz="1725" b="0">
                <a:solidFill>
                  <a:srgbClr val="087F80"/>
                </a:solidFill>
                <a:latin typeface="DejaVu Sans"/>
                <a:ea typeface="DejaVu Sans"/>
                <a:cs typeface="DejaVu Sans"/>
              </a:defRPr>
            </a:lvl5pPr>
            <a:lvl6pPr>
              <a:defRPr sz="1725" b="0">
                <a:solidFill>
                  <a:srgbClr val="087F80"/>
                </a:solidFill>
                <a:latin typeface="DejaVu Sans"/>
                <a:ea typeface="DejaVu Sans"/>
                <a:cs typeface="DejaVu Sans"/>
              </a:defRPr>
            </a:lvl6pPr>
            <a:lvl7pPr>
              <a:defRPr sz="1725" b="0">
                <a:solidFill>
                  <a:srgbClr val="087F80"/>
                </a:solidFill>
                <a:latin typeface="DejaVu Sans"/>
                <a:ea typeface="DejaVu Sans"/>
                <a:cs typeface="DejaVu Sans"/>
              </a:defRPr>
            </a:lvl7pPr>
            <a:lvl8pPr>
              <a:defRPr sz="1725" b="0">
                <a:solidFill>
                  <a:srgbClr val="087F80"/>
                </a:solidFill>
                <a:latin typeface="DejaVu Sans"/>
                <a:ea typeface="DejaVu Sans"/>
                <a:cs typeface="DejaVu Sans"/>
              </a:defRPr>
            </a:lvl8pPr>
            <a:lvl9pPr>
              <a:defRPr sz="1725" b="0">
                <a:solidFill>
                  <a:srgbClr val="087F80"/>
                </a:solidFill>
                <a:latin typeface="DejaVu Sans"/>
                <a:ea typeface="DejaVu Sans"/>
                <a:cs typeface="DejaVu Sans"/>
              </a:defRPr>
            </a:lvl9pPr>
          </a:lstStyle>
          <a:p xmlns:a="http://schemas.openxmlformats.org/drawingml/2006/main">
            <a:pPr>
              <a:lnSpc>
                <a:spcPct val="112000"/>
              </a:lnSpc>
              <a:buNone/>
              <a:defRPr sz="1725" b="0">
                <a:solidFill>
                  <a:srgbClr val="087F80"/>
                </a:solidFill>
                <a:latin typeface="DejaVu Sans"/>
                <a:ea typeface="DejaVu Sans"/>
                <a:cs typeface="DejaVu Sans"/>
              </a:defRPr>
            </a:pPr>
            <a:r>
              <a:rPr sz="1725" b="0">
                <a:solidFill>
                  <a:srgbClr val="087F80"/>
                </a:solidFill>
                <a:latin typeface="DejaVu Sans"/>
                <a:ea typeface="DejaVu Sans"/>
                <a:cs typeface="DejaVu Sans"/>
              </a:rPr>
              <a:t>https://github.com/JustGlowing/minisom</a:t>
            </a:r>
          </a:p>
        </p:txBody>
      </p:sp>
      <p:sp>
        <p:nvSpPr>
          <p:cNvPr id="5" name="reference-title-1">
            <a:extLst xmlns:a="http://schemas.openxmlformats.org/drawingml/2006/main">
              <a:ext uri="{FF2B5EF4-FFF2-40B4-BE49-F238E27FC236}">
                <a16:creationId xmlns:a16="http://schemas.microsoft.com/office/drawing/2014/main" id="{48391C3E-E686-4210-9678-6A2AE12A7607}"/>
              </a:ext>
            </a:extLst>
          </p:cNvPr>
          <p:cNvSpPr>
            <a:spLocks xmlns:a="http://schemas.openxmlformats.org/drawingml/2006/main" noGrp="1"/>
          </p:cNvSpPr>
          <p:nvPr/>
        </p:nvSpPr>
        <p:spPr>
          <a:xfrm xmlns:a="http://schemas.openxmlformats.org/drawingml/2006/main">
            <a:off x="685800" y="2800350"/>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2C3B"/>
                </a:solidFill>
                <a:latin typeface="DejaVu Sans"/>
                <a:ea typeface="DejaVu Sans"/>
                <a:cs typeface="DejaVu Sans"/>
              </a:defRPr>
            </a:defPPr>
            <a:lvl1pPr>
              <a:defRPr sz="2100" b="1">
                <a:solidFill>
                  <a:srgbClr val="192C3B"/>
                </a:solidFill>
                <a:latin typeface="DejaVu Sans"/>
                <a:ea typeface="DejaVu Sans"/>
                <a:cs typeface="DejaVu Sans"/>
              </a:defRPr>
            </a:lvl1pPr>
            <a:lvl2pPr>
              <a:defRPr sz="2100" b="1">
                <a:solidFill>
                  <a:srgbClr val="192C3B"/>
                </a:solidFill>
                <a:latin typeface="DejaVu Sans"/>
                <a:ea typeface="DejaVu Sans"/>
                <a:cs typeface="DejaVu Sans"/>
              </a:defRPr>
            </a:lvl2pPr>
            <a:lvl3pPr>
              <a:defRPr sz="2100" b="1">
                <a:solidFill>
                  <a:srgbClr val="192C3B"/>
                </a:solidFill>
                <a:latin typeface="DejaVu Sans"/>
                <a:ea typeface="DejaVu Sans"/>
                <a:cs typeface="DejaVu Sans"/>
              </a:defRPr>
            </a:lvl3pPr>
            <a:lvl4pPr>
              <a:defRPr sz="2100" b="1">
                <a:solidFill>
                  <a:srgbClr val="192C3B"/>
                </a:solidFill>
                <a:latin typeface="DejaVu Sans"/>
                <a:ea typeface="DejaVu Sans"/>
                <a:cs typeface="DejaVu Sans"/>
              </a:defRPr>
            </a:lvl4pPr>
            <a:lvl5pPr>
              <a:defRPr sz="2100" b="1">
                <a:solidFill>
                  <a:srgbClr val="192C3B"/>
                </a:solidFill>
                <a:latin typeface="DejaVu Sans"/>
                <a:ea typeface="DejaVu Sans"/>
                <a:cs typeface="DejaVu Sans"/>
              </a:defRPr>
            </a:lvl5pPr>
            <a:lvl6pPr>
              <a:defRPr sz="2100" b="1">
                <a:solidFill>
                  <a:srgbClr val="192C3B"/>
                </a:solidFill>
                <a:latin typeface="DejaVu Sans"/>
                <a:ea typeface="DejaVu Sans"/>
                <a:cs typeface="DejaVu Sans"/>
              </a:defRPr>
            </a:lvl6pPr>
            <a:lvl7pPr>
              <a:defRPr sz="2100" b="1">
                <a:solidFill>
                  <a:srgbClr val="192C3B"/>
                </a:solidFill>
                <a:latin typeface="DejaVu Sans"/>
                <a:ea typeface="DejaVu Sans"/>
                <a:cs typeface="DejaVu Sans"/>
              </a:defRPr>
            </a:lvl7pPr>
            <a:lvl8pPr>
              <a:defRPr sz="2100" b="1">
                <a:solidFill>
                  <a:srgbClr val="192C3B"/>
                </a:solidFill>
                <a:latin typeface="DejaVu Sans"/>
                <a:ea typeface="DejaVu Sans"/>
                <a:cs typeface="DejaVu Sans"/>
              </a:defRPr>
            </a:lvl8pPr>
            <a:lvl9pPr>
              <a:defRPr sz="2100" b="1">
                <a:solidFill>
                  <a:srgbClr val="192C3B"/>
                </a:solidFill>
                <a:latin typeface="DejaVu Sans"/>
                <a:ea typeface="DejaVu Sans"/>
                <a:cs typeface="DejaVu Sans"/>
              </a:defRPr>
            </a:lvl9pPr>
          </a:lstStyle>
          <a:p xmlns:a="http://schemas.openxmlformats.org/drawingml/2006/main">
            <a:pPr>
              <a:lnSpc>
                <a:spcPct val="112000"/>
              </a:lnSpc>
              <a:buNone/>
              <a:defRPr sz="2100" b="1">
                <a:solidFill>
                  <a:srgbClr val="192C3B"/>
                </a:solidFill>
                <a:latin typeface="DejaVu Sans"/>
                <a:ea typeface="DejaVu Sans"/>
                <a:cs typeface="DejaVu Sans"/>
              </a:defRPr>
            </a:pPr>
            <a:r>
              <a:rPr sz="2100" b="1">
                <a:solidFill>
                  <a:srgbClr val="192C3B"/>
                </a:solidFill>
                <a:latin typeface="DejaVu Sans"/>
                <a:ea typeface="DejaVu Sans"/>
                <a:cs typeface="DejaVu Sans"/>
              </a:rPr>
              <a:t>Algorithm and evaluation methods</a:t>
            </a:r>
          </a:p>
        </p:txBody>
      </p:sp>
      <p:sp>
        <p:nvSpPr>
          <p:cNvPr id="6" name="reference-link-1">
            <a:extLst xmlns:a="http://schemas.openxmlformats.org/drawingml/2006/main">
              <a:ext uri="{FF2B5EF4-FFF2-40B4-BE49-F238E27FC236}">
                <a16:creationId xmlns:a16="http://schemas.microsoft.com/office/drawing/2014/main" id="{768FB4B0-B0FC-48F0-9D45-57CAF847D1F2}"/>
              </a:ext>
            </a:extLst>
          </p:cNvPr>
          <p:cNvSpPr>
            <a:spLocks xmlns:a="http://schemas.openxmlformats.org/drawingml/2006/main" noGrp="1"/>
          </p:cNvSpPr>
          <p:nvPr/>
        </p:nvSpPr>
        <p:spPr>
          <a:xfrm xmlns:a="http://schemas.openxmlformats.org/drawingml/2006/main">
            <a:off x="685800" y="333375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087F80"/>
                </a:solidFill>
                <a:latin typeface="DejaVu Sans"/>
                <a:ea typeface="DejaVu Sans"/>
                <a:cs typeface="DejaVu Sans"/>
              </a:defRPr>
            </a:defPPr>
            <a:lvl1pPr>
              <a:defRPr sz="1725" b="0">
                <a:solidFill>
                  <a:srgbClr val="087F80"/>
                </a:solidFill>
                <a:latin typeface="DejaVu Sans"/>
                <a:ea typeface="DejaVu Sans"/>
                <a:cs typeface="DejaVu Sans"/>
              </a:defRPr>
            </a:lvl1pPr>
            <a:lvl2pPr>
              <a:defRPr sz="1725" b="0">
                <a:solidFill>
                  <a:srgbClr val="087F80"/>
                </a:solidFill>
                <a:latin typeface="DejaVu Sans"/>
                <a:ea typeface="DejaVu Sans"/>
                <a:cs typeface="DejaVu Sans"/>
              </a:defRPr>
            </a:lvl2pPr>
            <a:lvl3pPr>
              <a:defRPr sz="1725" b="0">
                <a:solidFill>
                  <a:srgbClr val="087F80"/>
                </a:solidFill>
                <a:latin typeface="DejaVu Sans"/>
                <a:ea typeface="DejaVu Sans"/>
                <a:cs typeface="DejaVu Sans"/>
              </a:defRPr>
            </a:lvl3pPr>
            <a:lvl4pPr>
              <a:defRPr sz="1725" b="0">
                <a:solidFill>
                  <a:srgbClr val="087F80"/>
                </a:solidFill>
                <a:latin typeface="DejaVu Sans"/>
                <a:ea typeface="DejaVu Sans"/>
                <a:cs typeface="DejaVu Sans"/>
              </a:defRPr>
            </a:lvl4pPr>
            <a:lvl5pPr>
              <a:defRPr sz="1725" b="0">
                <a:solidFill>
                  <a:srgbClr val="087F80"/>
                </a:solidFill>
                <a:latin typeface="DejaVu Sans"/>
                <a:ea typeface="DejaVu Sans"/>
                <a:cs typeface="DejaVu Sans"/>
              </a:defRPr>
            </a:lvl5pPr>
            <a:lvl6pPr>
              <a:defRPr sz="1725" b="0">
                <a:solidFill>
                  <a:srgbClr val="087F80"/>
                </a:solidFill>
                <a:latin typeface="DejaVu Sans"/>
                <a:ea typeface="DejaVu Sans"/>
                <a:cs typeface="DejaVu Sans"/>
              </a:defRPr>
            </a:lvl6pPr>
            <a:lvl7pPr>
              <a:defRPr sz="1725" b="0">
                <a:solidFill>
                  <a:srgbClr val="087F80"/>
                </a:solidFill>
                <a:latin typeface="DejaVu Sans"/>
                <a:ea typeface="DejaVu Sans"/>
                <a:cs typeface="DejaVu Sans"/>
              </a:defRPr>
            </a:lvl7pPr>
            <a:lvl8pPr>
              <a:defRPr sz="1725" b="0">
                <a:solidFill>
                  <a:srgbClr val="087F80"/>
                </a:solidFill>
                <a:latin typeface="DejaVu Sans"/>
                <a:ea typeface="DejaVu Sans"/>
                <a:cs typeface="DejaVu Sans"/>
              </a:defRPr>
            </a:lvl8pPr>
            <a:lvl9pPr>
              <a:defRPr sz="1725" b="0">
                <a:solidFill>
                  <a:srgbClr val="087F80"/>
                </a:solidFill>
                <a:latin typeface="DejaVu Sans"/>
                <a:ea typeface="DejaVu Sans"/>
                <a:cs typeface="DejaVu Sans"/>
              </a:defRPr>
            </a:lvl9pPr>
          </a:lstStyle>
          <a:p xmlns:a="http://schemas.openxmlformats.org/drawingml/2006/main">
            <a:pPr>
              <a:lnSpc>
                <a:spcPct val="112000"/>
              </a:lnSpc>
              <a:buNone/>
              <a:defRPr sz="1725" b="0">
                <a:solidFill>
                  <a:srgbClr val="087F80"/>
                </a:solidFill>
                <a:latin typeface="DejaVu Sans"/>
                <a:ea typeface="DejaVu Sans"/>
                <a:cs typeface="DejaVu Sans"/>
              </a:defRPr>
            </a:pPr>
            <a:r>
              <a:rPr sz="1725" b="0">
                <a:solidFill>
                  <a:srgbClr val="087F80"/>
                </a:solidFill>
                <a:latin typeface="DejaVu Sans"/>
                <a:ea typeface="DejaVu Sans"/>
                <a:cs typeface="DejaVu Sans"/>
              </a:rPr>
              <a:t>https://github.com/JustGlowing/minisom/blob/master/minisom.py</a:t>
            </a:r>
          </a:p>
        </p:txBody>
      </p:sp>
      <p:sp>
        <p:nvSpPr>
          <p:cNvPr id="7" name="reference-title-2">
            <a:extLst xmlns:a="http://schemas.openxmlformats.org/drawingml/2006/main">
              <a:ext uri="{FF2B5EF4-FFF2-40B4-BE49-F238E27FC236}">
                <a16:creationId xmlns:a16="http://schemas.microsoft.com/office/drawing/2014/main" id="{40EEB7D9-76F1-45ED-BB2B-C8A5DD276A4B}"/>
              </a:ext>
            </a:extLst>
          </p:cNvPr>
          <p:cNvSpPr>
            <a:spLocks xmlns:a="http://schemas.openxmlformats.org/drawingml/2006/main" noGrp="1"/>
          </p:cNvSpPr>
          <p:nvPr/>
        </p:nvSpPr>
        <p:spPr>
          <a:xfrm xmlns:a="http://schemas.openxmlformats.org/drawingml/2006/main">
            <a:off x="685800" y="4019550"/>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2C3B"/>
                </a:solidFill>
                <a:latin typeface="DejaVu Sans"/>
                <a:ea typeface="DejaVu Sans"/>
                <a:cs typeface="DejaVu Sans"/>
              </a:defRPr>
            </a:defPPr>
            <a:lvl1pPr>
              <a:defRPr sz="2100" b="1">
                <a:solidFill>
                  <a:srgbClr val="192C3B"/>
                </a:solidFill>
                <a:latin typeface="DejaVu Sans"/>
                <a:ea typeface="DejaVu Sans"/>
                <a:cs typeface="DejaVu Sans"/>
              </a:defRPr>
            </a:lvl1pPr>
            <a:lvl2pPr>
              <a:defRPr sz="2100" b="1">
                <a:solidFill>
                  <a:srgbClr val="192C3B"/>
                </a:solidFill>
                <a:latin typeface="DejaVu Sans"/>
                <a:ea typeface="DejaVu Sans"/>
                <a:cs typeface="DejaVu Sans"/>
              </a:defRPr>
            </a:lvl2pPr>
            <a:lvl3pPr>
              <a:defRPr sz="2100" b="1">
                <a:solidFill>
                  <a:srgbClr val="192C3B"/>
                </a:solidFill>
                <a:latin typeface="DejaVu Sans"/>
                <a:ea typeface="DejaVu Sans"/>
                <a:cs typeface="DejaVu Sans"/>
              </a:defRPr>
            </a:lvl3pPr>
            <a:lvl4pPr>
              <a:defRPr sz="2100" b="1">
                <a:solidFill>
                  <a:srgbClr val="192C3B"/>
                </a:solidFill>
                <a:latin typeface="DejaVu Sans"/>
                <a:ea typeface="DejaVu Sans"/>
                <a:cs typeface="DejaVu Sans"/>
              </a:defRPr>
            </a:lvl4pPr>
            <a:lvl5pPr>
              <a:defRPr sz="2100" b="1">
                <a:solidFill>
                  <a:srgbClr val="192C3B"/>
                </a:solidFill>
                <a:latin typeface="DejaVu Sans"/>
                <a:ea typeface="DejaVu Sans"/>
                <a:cs typeface="DejaVu Sans"/>
              </a:defRPr>
            </a:lvl5pPr>
            <a:lvl6pPr>
              <a:defRPr sz="2100" b="1">
                <a:solidFill>
                  <a:srgbClr val="192C3B"/>
                </a:solidFill>
                <a:latin typeface="DejaVu Sans"/>
                <a:ea typeface="DejaVu Sans"/>
                <a:cs typeface="DejaVu Sans"/>
              </a:defRPr>
            </a:lvl6pPr>
            <a:lvl7pPr>
              <a:defRPr sz="2100" b="1">
                <a:solidFill>
                  <a:srgbClr val="192C3B"/>
                </a:solidFill>
                <a:latin typeface="DejaVu Sans"/>
                <a:ea typeface="DejaVu Sans"/>
                <a:cs typeface="DejaVu Sans"/>
              </a:defRPr>
            </a:lvl7pPr>
            <a:lvl8pPr>
              <a:defRPr sz="2100" b="1">
                <a:solidFill>
                  <a:srgbClr val="192C3B"/>
                </a:solidFill>
                <a:latin typeface="DejaVu Sans"/>
                <a:ea typeface="DejaVu Sans"/>
                <a:cs typeface="DejaVu Sans"/>
              </a:defRPr>
            </a:lvl8pPr>
            <a:lvl9pPr>
              <a:defRPr sz="2100" b="1">
                <a:solidFill>
                  <a:srgbClr val="192C3B"/>
                </a:solidFill>
                <a:latin typeface="DejaVu Sans"/>
                <a:ea typeface="DejaVu Sans"/>
                <a:cs typeface="DejaVu Sans"/>
              </a:defRPr>
            </a:lvl9pPr>
          </a:lstStyle>
          <a:p xmlns:a="http://schemas.openxmlformats.org/drawingml/2006/main">
            <a:pPr>
              <a:lnSpc>
                <a:spcPct val="112000"/>
              </a:lnSpc>
              <a:buNone/>
              <a:defRPr sz="2100" b="1">
                <a:solidFill>
                  <a:srgbClr val="192C3B"/>
                </a:solidFill>
                <a:latin typeface="DejaVu Sans"/>
                <a:ea typeface="DejaVu Sans"/>
                <a:cs typeface="DejaVu Sans"/>
              </a:defRPr>
            </a:pPr>
            <a:r>
              <a:rPr sz="2100" b="1">
                <a:solidFill>
                  <a:srgbClr val="192C3B"/>
                </a:solidFill>
                <a:latin typeface="DejaVu Sans"/>
                <a:ea typeface="DejaVu Sans"/>
                <a:cs typeface="DejaVu Sans"/>
              </a:rPr>
              <a:t>Official examples</a:t>
            </a:r>
          </a:p>
        </p:txBody>
      </p:sp>
      <p:sp>
        <p:nvSpPr>
          <p:cNvPr id="8" name="reference-link-2">
            <a:extLst xmlns:a="http://schemas.openxmlformats.org/drawingml/2006/main">
              <a:ext uri="{FF2B5EF4-FFF2-40B4-BE49-F238E27FC236}">
                <a16:creationId xmlns:a16="http://schemas.microsoft.com/office/drawing/2014/main" id="{1996D767-37B0-49C9-A837-910C3A8D8567}"/>
              </a:ext>
            </a:extLst>
          </p:cNvPr>
          <p:cNvSpPr>
            <a:spLocks xmlns:a="http://schemas.openxmlformats.org/drawingml/2006/main" noGrp="1"/>
          </p:cNvSpPr>
          <p:nvPr/>
        </p:nvSpPr>
        <p:spPr>
          <a:xfrm xmlns:a="http://schemas.openxmlformats.org/drawingml/2006/main">
            <a:off x="685800" y="455295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087F80"/>
                </a:solidFill>
                <a:latin typeface="DejaVu Sans"/>
                <a:ea typeface="DejaVu Sans"/>
                <a:cs typeface="DejaVu Sans"/>
              </a:defRPr>
            </a:defPPr>
            <a:lvl1pPr>
              <a:defRPr sz="1725" b="0">
                <a:solidFill>
                  <a:srgbClr val="087F80"/>
                </a:solidFill>
                <a:latin typeface="DejaVu Sans"/>
                <a:ea typeface="DejaVu Sans"/>
                <a:cs typeface="DejaVu Sans"/>
              </a:defRPr>
            </a:lvl1pPr>
            <a:lvl2pPr>
              <a:defRPr sz="1725" b="0">
                <a:solidFill>
                  <a:srgbClr val="087F80"/>
                </a:solidFill>
                <a:latin typeface="DejaVu Sans"/>
                <a:ea typeface="DejaVu Sans"/>
                <a:cs typeface="DejaVu Sans"/>
              </a:defRPr>
            </a:lvl2pPr>
            <a:lvl3pPr>
              <a:defRPr sz="1725" b="0">
                <a:solidFill>
                  <a:srgbClr val="087F80"/>
                </a:solidFill>
                <a:latin typeface="DejaVu Sans"/>
                <a:ea typeface="DejaVu Sans"/>
                <a:cs typeface="DejaVu Sans"/>
              </a:defRPr>
            </a:lvl3pPr>
            <a:lvl4pPr>
              <a:defRPr sz="1725" b="0">
                <a:solidFill>
                  <a:srgbClr val="087F80"/>
                </a:solidFill>
                <a:latin typeface="DejaVu Sans"/>
                <a:ea typeface="DejaVu Sans"/>
                <a:cs typeface="DejaVu Sans"/>
              </a:defRPr>
            </a:lvl4pPr>
            <a:lvl5pPr>
              <a:defRPr sz="1725" b="0">
                <a:solidFill>
                  <a:srgbClr val="087F80"/>
                </a:solidFill>
                <a:latin typeface="DejaVu Sans"/>
                <a:ea typeface="DejaVu Sans"/>
                <a:cs typeface="DejaVu Sans"/>
              </a:defRPr>
            </a:lvl5pPr>
            <a:lvl6pPr>
              <a:defRPr sz="1725" b="0">
                <a:solidFill>
                  <a:srgbClr val="087F80"/>
                </a:solidFill>
                <a:latin typeface="DejaVu Sans"/>
                <a:ea typeface="DejaVu Sans"/>
                <a:cs typeface="DejaVu Sans"/>
              </a:defRPr>
            </a:lvl6pPr>
            <a:lvl7pPr>
              <a:defRPr sz="1725" b="0">
                <a:solidFill>
                  <a:srgbClr val="087F80"/>
                </a:solidFill>
                <a:latin typeface="DejaVu Sans"/>
                <a:ea typeface="DejaVu Sans"/>
                <a:cs typeface="DejaVu Sans"/>
              </a:defRPr>
            </a:lvl7pPr>
            <a:lvl8pPr>
              <a:defRPr sz="1725" b="0">
                <a:solidFill>
                  <a:srgbClr val="087F80"/>
                </a:solidFill>
                <a:latin typeface="DejaVu Sans"/>
                <a:ea typeface="DejaVu Sans"/>
                <a:cs typeface="DejaVu Sans"/>
              </a:defRPr>
            </a:lvl8pPr>
            <a:lvl9pPr>
              <a:defRPr sz="1725" b="0">
                <a:solidFill>
                  <a:srgbClr val="087F80"/>
                </a:solidFill>
                <a:latin typeface="DejaVu Sans"/>
                <a:ea typeface="DejaVu Sans"/>
                <a:cs typeface="DejaVu Sans"/>
              </a:defRPr>
            </a:lvl9pPr>
          </a:lstStyle>
          <a:p xmlns:a="http://schemas.openxmlformats.org/drawingml/2006/main">
            <a:pPr>
              <a:lnSpc>
                <a:spcPct val="112000"/>
              </a:lnSpc>
              <a:buNone/>
              <a:defRPr sz="1725" b="0">
                <a:solidFill>
                  <a:srgbClr val="087F80"/>
                </a:solidFill>
                <a:latin typeface="DejaVu Sans"/>
                <a:ea typeface="DejaVu Sans"/>
                <a:cs typeface="DejaVu Sans"/>
              </a:defRPr>
            </a:pPr>
            <a:r>
              <a:rPr sz="1725" b="0">
                <a:solidFill>
                  <a:srgbClr val="087F80"/>
                </a:solidFill>
                <a:latin typeface="DejaVu Sans"/>
                <a:ea typeface="DejaVu Sans"/>
                <a:cs typeface="DejaVu Sans"/>
              </a:rPr>
              <a:t>https://github.com/JustGlowing/minisom/tree/master/examples</a:t>
            </a:r>
          </a:p>
        </p:txBody>
      </p:sp>
      <p:sp>
        <p:nvSpPr>
          <p:cNvPr id="9" name="measured-source">
            <a:extLst xmlns:a="http://schemas.openxmlformats.org/drawingml/2006/main">
              <a:ext uri="{FF2B5EF4-FFF2-40B4-BE49-F238E27FC236}">
                <a16:creationId xmlns:a16="http://schemas.microsoft.com/office/drawing/2014/main" id="{89C475CC-F0F9-47B8-B3B2-AA1E748C37AD}"/>
              </a:ext>
            </a:extLst>
          </p:cNvPr>
          <p:cNvSpPr>
            <a:spLocks xmlns:a="http://schemas.openxmlformats.org/drawingml/2006/main" noGrp="1"/>
          </p:cNvSpPr>
          <p:nvPr/>
        </p:nvSpPr>
        <p:spPr>
          <a:xfrm xmlns:a="http://schemas.openxmlformats.org/drawingml/2006/main">
            <a:off x="685800" y="5562600"/>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16573"/>
                </a:solidFill>
                <a:latin typeface="DejaVu Sans"/>
                <a:ea typeface="DejaVu Sans"/>
                <a:cs typeface="DejaVu Sans"/>
              </a:defRPr>
            </a:defPPr>
            <a:lvl1pPr>
              <a:defRPr sz="1950" b="0">
                <a:solidFill>
                  <a:srgbClr val="516573"/>
                </a:solidFill>
                <a:latin typeface="DejaVu Sans"/>
                <a:ea typeface="DejaVu Sans"/>
                <a:cs typeface="DejaVu Sans"/>
              </a:defRPr>
            </a:lvl1pPr>
            <a:lvl2pPr>
              <a:defRPr sz="1950" b="0">
                <a:solidFill>
                  <a:srgbClr val="516573"/>
                </a:solidFill>
                <a:latin typeface="DejaVu Sans"/>
                <a:ea typeface="DejaVu Sans"/>
                <a:cs typeface="DejaVu Sans"/>
              </a:defRPr>
            </a:lvl2pPr>
            <a:lvl3pPr>
              <a:defRPr sz="1950" b="0">
                <a:solidFill>
                  <a:srgbClr val="516573"/>
                </a:solidFill>
                <a:latin typeface="DejaVu Sans"/>
                <a:ea typeface="DejaVu Sans"/>
                <a:cs typeface="DejaVu Sans"/>
              </a:defRPr>
            </a:lvl3pPr>
            <a:lvl4pPr>
              <a:defRPr sz="1950" b="0">
                <a:solidFill>
                  <a:srgbClr val="516573"/>
                </a:solidFill>
                <a:latin typeface="DejaVu Sans"/>
                <a:ea typeface="DejaVu Sans"/>
                <a:cs typeface="DejaVu Sans"/>
              </a:defRPr>
            </a:lvl4pPr>
            <a:lvl5pPr>
              <a:defRPr sz="1950" b="0">
                <a:solidFill>
                  <a:srgbClr val="516573"/>
                </a:solidFill>
                <a:latin typeface="DejaVu Sans"/>
                <a:ea typeface="DejaVu Sans"/>
                <a:cs typeface="DejaVu Sans"/>
              </a:defRPr>
            </a:lvl5pPr>
            <a:lvl6pPr>
              <a:defRPr sz="1950" b="0">
                <a:solidFill>
                  <a:srgbClr val="516573"/>
                </a:solidFill>
                <a:latin typeface="DejaVu Sans"/>
                <a:ea typeface="DejaVu Sans"/>
                <a:cs typeface="DejaVu Sans"/>
              </a:defRPr>
            </a:lvl6pPr>
            <a:lvl7pPr>
              <a:defRPr sz="1950" b="0">
                <a:solidFill>
                  <a:srgbClr val="516573"/>
                </a:solidFill>
                <a:latin typeface="DejaVu Sans"/>
                <a:ea typeface="DejaVu Sans"/>
                <a:cs typeface="DejaVu Sans"/>
              </a:defRPr>
            </a:lvl7pPr>
            <a:lvl8pPr>
              <a:defRPr sz="1950" b="0">
                <a:solidFill>
                  <a:srgbClr val="516573"/>
                </a:solidFill>
                <a:latin typeface="DejaVu Sans"/>
                <a:ea typeface="DejaVu Sans"/>
                <a:cs typeface="DejaVu Sans"/>
              </a:defRPr>
            </a:lvl8pPr>
            <a:lvl9pPr>
              <a:defRPr sz="1950" b="0">
                <a:solidFill>
                  <a:srgbClr val="516573"/>
                </a:solidFill>
                <a:latin typeface="DejaVu Sans"/>
                <a:ea typeface="DejaVu Sans"/>
                <a:cs typeface="DejaVu Sans"/>
              </a:defRPr>
            </a:lvl9pPr>
          </a:lstStyle>
          <a:p xmlns:a="http://schemas.openxmlformats.org/drawingml/2006/main">
            <a:pPr>
              <a:lnSpc>
                <a:spcPct val="112000"/>
              </a:lnSpc>
              <a:buNone/>
              <a:defRPr sz="1950" b="0">
                <a:solidFill>
                  <a:srgbClr val="516573"/>
                </a:solidFill>
                <a:latin typeface="DejaVu Sans"/>
                <a:ea typeface="DejaVu Sans"/>
                <a:cs typeface="DejaVu Sans"/>
              </a:defRPr>
            </a:pPr>
            <a:r>
              <a:rPr sz="1950" b="0">
                <a:solidFill>
                  <a:srgbClr val="516573"/>
                </a:solidFill>
                <a:latin typeface="DejaVu Sans"/>
                <a:ea typeface="DejaVu Sans"/>
                <a:cs typeface="DejaVu Sans"/>
              </a:rPr>
              <a:t>Experimental figures and results: accompanying Python demo</a:t>
            </a:r>
          </a:p>
        </p:txBody>
      </p:sp>
      <p:sp>
        <p:nvSpPr>
          <p:cNvPr id="10" name="versions">
            <a:extLst xmlns:a="http://schemas.openxmlformats.org/drawingml/2006/main">
              <a:ext uri="{FF2B5EF4-FFF2-40B4-BE49-F238E27FC236}">
                <a16:creationId xmlns:a16="http://schemas.microsoft.com/office/drawing/2014/main" id="{D6E7B297-6F40-4E0C-A679-A2DCEC880507}"/>
              </a:ext>
            </a:extLst>
          </p:cNvPr>
          <p:cNvSpPr>
            <a:spLocks xmlns:a="http://schemas.openxmlformats.org/drawingml/2006/main" noGrp="1"/>
          </p:cNvSpPr>
          <p:nvPr/>
        </p:nvSpPr>
        <p:spPr>
          <a:xfrm xmlns:a="http://schemas.openxmlformats.org/drawingml/2006/main">
            <a:off x="685800" y="606742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16573"/>
                </a:solidFill>
                <a:latin typeface="DejaVu Sans"/>
                <a:ea typeface="DejaVu Sans"/>
                <a:cs typeface="DejaVu Sans"/>
              </a:defRPr>
            </a:defPPr>
            <a:lvl1pPr>
              <a:defRPr sz="1650" b="0">
                <a:solidFill>
                  <a:srgbClr val="516573"/>
                </a:solidFill>
                <a:latin typeface="DejaVu Sans"/>
                <a:ea typeface="DejaVu Sans"/>
                <a:cs typeface="DejaVu Sans"/>
              </a:defRPr>
            </a:lvl1pPr>
            <a:lvl2pPr>
              <a:defRPr sz="1650" b="0">
                <a:solidFill>
                  <a:srgbClr val="516573"/>
                </a:solidFill>
                <a:latin typeface="DejaVu Sans"/>
                <a:ea typeface="DejaVu Sans"/>
                <a:cs typeface="DejaVu Sans"/>
              </a:defRPr>
            </a:lvl2pPr>
            <a:lvl3pPr>
              <a:defRPr sz="1650" b="0">
                <a:solidFill>
                  <a:srgbClr val="516573"/>
                </a:solidFill>
                <a:latin typeface="DejaVu Sans"/>
                <a:ea typeface="DejaVu Sans"/>
                <a:cs typeface="DejaVu Sans"/>
              </a:defRPr>
            </a:lvl3pPr>
            <a:lvl4pPr>
              <a:defRPr sz="1650" b="0">
                <a:solidFill>
                  <a:srgbClr val="516573"/>
                </a:solidFill>
                <a:latin typeface="DejaVu Sans"/>
                <a:ea typeface="DejaVu Sans"/>
                <a:cs typeface="DejaVu Sans"/>
              </a:defRPr>
            </a:lvl4pPr>
            <a:lvl5pPr>
              <a:defRPr sz="1650" b="0">
                <a:solidFill>
                  <a:srgbClr val="516573"/>
                </a:solidFill>
                <a:latin typeface="DejaVu Sans"/>
                <a:ea typeface="DejaVu Sans"/>
                <a:cs typeface="DejaVu Sans"/>
              </a:defRPr>
            </a:lvl5pPr>
            <a:lvl6pPr>
              <a:defRPr sz="1650" b="0">
                <a:solidFill>
                  <a:srgbClr val="516573"/>
                </a:solidFill>
                <a:latin typeface="DejaVu Sans"/>
                <a:ea typeface="DejaVu Sans"/>
                <a:cs typeface="DejaVu Sans"/>
              </a:defRPr>
            </a:lvl6pPr>
            <a:lvl7pPr>
              <a:defRPr sz="1650" b="0">
                <a:solidFill>
                  <a:srgbClr val="516573"/>
                </a:solidFill>
                <a:latin typeface="DejaVu Sans"/>
                <a:ea typeface="DejaVu Sans"/>
                <a:cs typeface="DejaVu Sans"/>
              </a:defRPr>
            </a:lvl7pPr>
            <a:lvl8pPr>
              <a:defRPr sz="1650" b="0">
                <a:solidFill>
                  <a:srgbClr val="516573"/>
                </a:solidFill>
                <a:latin typeface="DejaVu Sans"/>
                <a:ea typeface="DejaVu Sans"/>
                <a:cs typeface="DejaVu Sans"/>
              </a:defRPr>
            </a:lvl8pPr>
            <a:lvl9pPr>
              <a:defRPr sz="1650" b="0">
                <a:solidFill>
                  <a:srgbClr val="516573"/>
                </a:solidFill>
                <a:latin typeface="DejaVu Sans"/>
                <a:ea typeface="DejaVu Sans"/>
                <a:cs typeface="DejaVu Sans"/>
              </a:defRPr>
            </a:lvl9pPr>
          </a:lstStyle>
          <a:p xmlns:a="http://schemas.openxmlformats.org/drawingml/2006/main">
            <a:pPr>
              <a:lnSpc>
                <a:spcPct val="112000"/>
              </a:lnSpc>
              <a:buNone/>
              <a:defRPr sz="1650" b="0">
                <a:solidFill>
                  <a:srgbClr val="516573"/>
                </a:solidFill>
                <a:latin typeface="DejaVu Sans"/>
                <a:ea typeface="DejaVu Sans"/>
                <a:cs typeface="DejaVu Sans"/>
              </a:defRPr>
            </a:pPr>
            <a:r>
              <a:rPr sz="1650" b="0">
                <a:solidFill>
                  <a:srgbClr val="516573"/>
                </a:solidFill>
                <a:latin typeface="DejaVu Sans"/>
                <a:ea typeface="DejaVu Sans"/>
                <a:cs typeface="DejaVu Sans"/>
              </a:rPr>
              <a:t>Demo versions: MiniSom 2.3.5, NumPy 2.3.5</a:t>
            </a:r>
          </a:p>
        </p:txBody>
      </p:sp>
    </p:spTree>
    <p:extLst>
      <p:ext uri="{BB962C8B-B14F-4D97-AF65-F5344CB8AC3E}">
        <p14:creationId xmlns:p14="http://schemas.microsoft.com/office/powerpoint/2010/main" val="8753440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2026-10-17T10:32:18.6710000Z</dcterms:created>
  <dcterms:modified xsi:type="dcterms:W3CDTF">2026-10-17T10:32:18.6710000Z</dcterms:modified>
</coreProperties>
</file>